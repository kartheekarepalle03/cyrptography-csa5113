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sldIdLst>
    <p:sldId id="256" r:id="rId2"/>
    <p:sldId id="257" r:id="rId3"/>
    <p:sldId id="282" r:id="rId4"/>
    <p:sldId id="259" r:id="rId5"/>
    <p:sldId id="261" r:id="rId6"/>
    <p:sldId id="262" r:id="rId7"/>
    <p:sldId id="263" r:id="rId8"/>
    <p:sldId id="264" r:id="rId9"/>
    <p:sldId id="277" r:id="rId10"/>
    <p:sldId id="267" r:id="rId11"/>
    <p:sldId id="278" r:id="rId12"/>
    <p:sldId id="279" r:id="rId13"/>
    <p:sldId id="280" r:id="rId14"/>
    <p:sldId id="281" r:id="rId15"/>
    <p:sldId id="274" r:id="rId16"/>
    <p:sldId id="273" r:id="rId17"/>
    <p:sldId id="275" r:id="rId18"/>
    <p:sldId id="276" r:id="rId19"/>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286" autoAdjust="0"/>
    <p:restoredTop sz="94660"/>
  </p:normalViewPr>
  <p:slideViewPr>
    <p:cSldViewPr>
      <p:cViewPr varScale="1">
        <p:scale>
          <a:sx n="73" d="100"/>
          <a:sy n="73" d="100"/>
        </p:scale>
        <p:origin x="272" y="4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A9DB233-B8D4-4AAF-82EE-CA5B50DA4158}" type="doc">
      <dgm:prSet loTypeId="urn:microsoft.com/office/officeart/2005/8/layout/hProcess9" loCatId="process" qsTypeId="urn:microsoft.com/office/officeart/2005/8/quickstyle/simple1" qsCatId="simple" csTypeId="urn:microsoft.com/office/officeart/2005/8/colors/accent1_2" csCatId="accent1" phldr="1"/>
      <dgm:spPr/>
      <dgm:t>
        <a:bodyPr/>
        <a:lstStyle/>
        <a:p>
          <a:endParaRPr lang="en-IN"/>
        </a:p>
      </dgm:t>
    </dgm:pt>
    <dgm:pt modelId="{A8F30900-BEBE-4F5F-B75D-0CA6E04B1F04}">
      <dgm:prSet/>
      <dgm:spPr/>
      <dgm:t>
        <a:bodyPr/>
        <a:lstStyle/>
        <a:p>
          <a:r>
            <a:rPr lang="en-IN" b="1" dirty="0"/>
            <a:t>Module 1 – Motion Detection and Face Recognition</a:t>
          </a:r>
          <a:endParaRPr lang="en-IN" dirty="0"/>
        </a:p>
      </dgm:t>
    </dgm:pt>
    <dgm:pt modelId="{02DEF592-E725-4E9F-900B-8CB295951E49}" type="parTrans" cxnId="{B8E040A5-C431-4002-B314-2FA052508EAE}">
      <dgm:prSet/>
      <dgm:spPr/>
      <dgm:t>
        <a:bodyPr/>
        <a:lstStyle/>
        <a:p>
          <a:endParaRPr lang="en-IN"/>
        </a:p>
      </dgm:t>
    </dgm:pt>
    <dgm:pt modelId="{A5A6C75B-589A-4688-936A-79C4A27619AE}" type="sibTrans" cxnId="{B8E040A5-C431-4002-B314-2FA052508EAE}">
      <dgm:prSet/>
      <dgm:spPr/>
      <dgm:t>
        <a:bodyPr/>
        <a:lstStyle/>
        <a:p>
          <a:endParaRPr lang="en-IN"/>
        </a:p>
      </dgm:t>
    </dgm:pt>
    <dgm:pt modelId="{3968A925-1903-45F3-8C40-6F211EE8CF94}">
      <dgm:prSet/>
      <dgm:spPr/>
      <dgm:t>
        <a:bodyPr/>
        <a:lstStyle/>
        <a:p>
          <a:r>
            <a:rPr lang="en-IN" b="1" dirty="0"/>
            <a:t>Module 2 – Cryptographic Evidence Protection</a:t>
          </a:r>
          <a:endParaRPr lang="en-IN" dirty="0"/>
        </a:p>
      </dgm:t>
    </dgm:pt>
    <dgm:pt modelId="{5506D78A-4132-4906-9FE7-5C793660DCF3}" type="parTrans" cxnId="{EE12762C-7E7D-436E-B939-5997931AB0D0}">
      <dgm:prSet/>
      <dgm:spPr/>
      <dgm:t>
        <a:bodyPr/>
        <a:lstStyle/>
        <a:p>
          <a:endParaRPr lang="en-IN"/>
        </a:p>
      </dgm:t>
    </dgm:pt>
    <dgm:pt modelId="{FB8950CE-2988-4093-8B8B-930C8F260C75}" type="sibTrans" cxnId="{EE12762C-7E7D-436E-B939-5997931AB0D0}">
      <dgm:prSet/>
      <dgm:spPr/>
      <dgm:t>
        <a:bodyPr/>
        <a:lstStyle/>
        <a:p>
          <a:endParaRPr lang="en-IN"/>
        </a:p>
      </dgm:t>
    </dgm:pt>
    <dgm:pt modelId="{5B9871FA-8ED4-482E-920D-E34CD0A98E17}">
      <dgm:prSet/>
      <dgm:spPr/>
      <dgm:t>
        <a:bodyPr/>
        <a:lstStyle/>
        <a:p>
          <a:r>
            <a:rPr lang="en-IN" b="1" dirty="0"/>
            <a:t>Module 3 – Secure Log </a:t>
          </a:r>
          <a:r>
            <a:rPr lang="en-IN" b="1"/>
            <a:t>Management &amp; Alert Notification </a:t>
          </a:r>
          <a:endParaRPr lang="en-IN" dirty="0"/>
        </a:p>
      </dgm:t>
    </dgm:pt>
    <dgm:pt modelId="{33C0DEC0-2E67-4BBF-BD83-E463DB91EACE}" type="parTrans" cxnId="{ACB1C5DA-4809-4065-BCCE-D0FA36EDA514}">
      <dgm:prSet/>
      <dgm:spPr/>
      <dgm:t>
        <a:bodyPr/>
        <a:lstStyle/>
        <a:p>
          <a:endParaRPr lang="en-IN"/>
        </a:p>
      </dgm:t>
    </dgm:pt>
    <dgm:pt modelId="{1C7367EC-FF03-45E3-86A0-8A1A181471BA}" type="sibTrans" cxnId="{ACB1C5DA-4809-4065-BCCE-D0FA36EDA514}">
      <dgm:prSet/>
      <dgm:spPr/>
      <dgm:t>
        <a:bodyPr/>
        <a:lstStyle/>
        <a:p>
          <a:endParaRPr lang="en-IN"/>
        </a:p>
      </dgm:t>
    </dgm:pt>
    <dgm:pt modelId="{256DA414-8DB3-45AC-BD9D-C7FBFC73D3B7}" type="pres">
      <dgm:prSet presAssocID="{EA9DB233-B8D4-4AAF-82EE-CA5B50DA4158}" presName="CompostProcess" presStyleCnt="0">
        <dgm:presLayoutVars>
          <dgm:dir/>
          <dgm:resizeHandles val="exact"/>
        </dgm:presLayoutVars>
      </dgm:prSet>
      <dgm:spPr/>
    </dgm:pt>
    <dgm:pt modelId="{0FD91E97-B8F9-499F-80BB-3A62925CEAD1}" type="pres">
      <dgm:prSet presAssocID="{EA9DB233-B8D4-4AAF-82EE-CA5B50DA4158}" presName="arrow" presStyleLbl="bgShp" presStyleIdx="0" presStyleCnt="1"/>
      <dgm:spPr/>
    </dgm:pt>
    <dgm:pt modelId="{5643B0D9-055C-4095-946C-3498B712D216}" type="pres">
      <dgm:prSet presAssocID="{EA9DB233-B8D4-4AAF-82EE-CA5B50DA4158}" presName="linearProcess" presStyleCnt="0"/>
      <dgm:spPr/>
    </dgm:pt>
    <dgm:pt modelId="{15D15155-D71F-4BBF-A0E7-0E5F798811DD}" type="pres">
      <dgm:prSet presAssocID="{A8F30900-BEBE-4F5F-B75D-0CA6E04B1F04}" presName="textNode" presStyleLbl="node1" presStyleIdx="0" presStyleCnt="3">
        <dgm:presLayoutVars>
          <dgm:bulletEnabled val="1"/>
        </dgm:presLayoutVars>
      </dgm:prSet>
      <dgm:spPr/>
    </dgm:pt>
    <dgm:pt modelId="{FA8F4918-B8A1-4DF3-A3F7-081F5274F7B3}" type="pres">
      <dgm:prSet presAssocID="{A5A6C75B-589A-4688-936A-79C4A27619AE}" presName="sibTrans" presStyleCnt="0"/>
      <dgm:spPr/>
    </dgm:pt>
    <dgm:pt modelId="{ECCC6B47-0793-4A63-9B5C-B95AD9AD2EA4}" type="pres">
      <dgm:prSet presAssocID="{3968A925-1903-45F3-8C40-6F211EE8CF94}" presName="textNode" presStyleLbl="node1" presStyleIdx="1" presStyleCnt="3">
        <dgm:presLayoutVars>
          <dgm:bulletEnabled val="1"/>
        </dgm:presLayoutVars>
      </dgm:prSet>
      <dgm:spPr/>
    </dgm:pt>
    <dgm:pt modelId="{5A55531E-ED70-4D9A-95B3-B081E060C245}" type="pres">
      <dgm:prSet presAssocID="{FB8950CE-2988-4093-8B8B-930C8F260C75}" presName="sibTrans" presStyleCnt="0"/>
      <dgm:spPr/>
    </dgm:pt>
    <dgm:pt modelId="{4487D044-6FF7-45B9-9626-FC7BDC2F449D}" type="pres">
      <dgm:prSet presAssocID="{5B9871FA-8ED4-482E-920D-E34CD0A98E17}" presName="textNode" presStyleLbl="node1" presStyleIdx="2" presStyleCnt="3">
        <dgm:presLayoutVars>
          <dgm:bulletEnabled val="1"/>
        </dgm:presLayoutVars>
      </dgm:prSet>
      <dgm:spPr/>
    </dgm:pt>
  </dgm:ptLst>
  <dgm:cxnLst>
    <dgm:cxn modelId="{EE12762C-7E7D-436E-B939-5997931AB0D0}" srcId="{EA9DB233-B8D4-4AAF-82EE-CA5B50DA4158}" destId="{3968A925-1903-45F3-8C40-6F211EE8CF94}" srcOrd="1" destOrd="0" parTransId="{5506D78A-4132-4906-9FE7-5C793660DCF3}" sibTransId="{FB8950CE-2988-4093-8B8B-930C8F260C75}"/>
    <dgm:cxn modelId="{83272759-2F9B-4BE5-8B23-0F6330C2FD8F}" type="presOf" srcId="{3968A925-1903-45F3-8C40-6F211EE8CF94}" destId="{ECCC6B47-0793-4A63-9B5C-B95AD9AD2EA4}" srcOrd="0" destOrd="0" presId="urn:microsoft.com/office/officeart/2005/8/layout/hProcess9"/>
    <dgm:cxn modelId="{B8E040A5-C431-4002-B314-2FA052508EAE}" srcId="{EA9DB233-B8D4-4AAF-82EE-CA5B50DA4158}" destId="{A8F30900-BEBE-4F5F-B75D-0CA6E04B1F04}" srcOrd="0" destOrd="0" parTransId="{02DEF592-E725-4E9F-900B-8CB295951E49}" sibTransId="{A5A6C75B-589A-4688-936A-79C4A27619AE}"/>
    <dgm:cxn modelId="{6D6BE2C1-9BB5-4B7F-9966-9AE341AA4D03}" type="presOf" srcId="{5B9871FA-8ED4-482E-920D-E34CD0A98E17}" destId="{4487D044-6FF7-45B9-9626-FC7BDC2F449D}" srcOrd="0" destOrd="0" presId="urn:microsoft.com/office/officeart/2005/8/layout/hProcess9"/>
    <dgm:cxn modelId="{3F4F6EC2-7957-4F92-B44C-19A00B8E84B8}" type="presOf" srcId="{A8F30900-BEBE-4F5F-B75D-0CA6E04B1F04}" destId="{15D15155-D71F-4BBF-A0E7-0E5F798811DD}" srcOrd="0" destOrd="0" presId="urn:microsoft.com/office/officeart/2005/8/layout/hProcess9"/>
    <dgm:cxn modelId="{ACB1C5DA-4809-4065-BCCE-D0FA36EDA514}" srcId="{EA9DB233-B8D4-4AAF-82EE-CA5B50DA4158}" destId="{5B9871FA-8ED4-482E-920D-E34CD0A98E17}" srcOrd="2" destOrd="0" parTransId="{33C0DEC0-2E67-4BBF-BD83-E463DB91EACE}" sibTransId="{1C7367EC-FF03-45E3-86A0-8A1A181471BA}"/>
    <dgm:cxn modelId="{2A9AB5EB-DC72-43A6-BD8D-2894D47997A4}" type="presOf" srcId="{EA9DB233-B8D4-4AAF-82EE-CA5B50DA4158}" destId="{256DA414-8DB3-45AC-BD9D-C7FBFC73D3B7}" srcOrd="0" destOrd="0" presId="urn:microsoft.com/office/officeart/2005/8/layout/hProcess9"/>
    <dgm:cxn modelId="{C4270EE3-424F-4D5B-90AF-B1BFD2273714}" type="presParOf" srcId="{256DA414-8DB3-45AC-BD9D-C7FBFC73D3B7}" destId="{0FD91E97-B8F9-499F-80BB-3A62925CEAD1}" srcOrd="0" destOrd="0" presId="urn:microsoft.com/office/officeart/2005/8/layout/hProcess9"/>
    <dgm:cxn modelId="{07959117-A409-4C61-926F-FEE0CD8445DF}" type="presParOf" srcId="{256DA414-8DB3-45AC-BD9D-C7FBFC73D3B7}" destId="{5643B0D9-055C-4095-946C-3498B712D216}" srcOrd="1" destOrd="0" presId="urn:microsoft.com/office/officeart/2005/8/layout/hProcess9"/>
    <dgm:cxn modelId="{9DED0A50-0DDD-4970-B285-077AFABE2C96}" type="presParOf" srcId="{5643B0D9-055C-4095-946C-3498B712D216}" destId="{15D15155-D71F-4BBF-A0E7-0E5F798811DD}" srcOrd="0" destOrd="0" presId="urn:microsoft.com/office/officeart/2005/8/layout/hProcess9"/>
    <dgm:cxn modelId="{3624335F-C611-406E-8EF5-FE641648EC18}" type="presParOf" srcId="{5643B0D9-055C-4095-946C-3498B712D216}" destId="{FA8F4918-B8A1-4DF3-A3F7-081F5274F7B3}" srcOrd="1" destOrd="0" presId="urn:microsoft.com/office/officeart/2005/8/layout/hProcess9"/>
    <dgm:cxn modelId="{D58AF733-11C6-42ED-86B5-1C7042024095}" type="presParOf" srcId="{5643B0D9-055C-4095-946C-3498B712D216}" destId="{ECCC6B47-0793-4A63-9B5C-B95AD9AD2EA4}" srcOrd="2" destOrd="0" presId="urn:microsoft.com/office/officeart/2005/8/layout/hProcess9"/>
    <dgm:cxn modelId="{A8991200-7F9C-4A3B-9B4C-F3664CC568CD}" type="presParOf" srcId="{5643B0D9-055C-4095-946C-3498B712D216}" destId="{5A55531E-ED70-4D9A-95B3-B081E060C245}" srcOrd="3" destOrd="0" presId="urn:microsoft.com/office/officeart/2005/8/layout/hProcess9"/>
    <dgm:cxn modelId="{21055BEC-C0D9-40EF-83F5-46ECC514B668}" type="presParOf" srcId="{5643B0D9-055C-4095-946C-3498B712D216}" destId="{4487D044-6FF7-45B9-9626-FC7BDC2F449D}" srcOrd="4"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D91E97-B8F9-499F-80BB-3A62925CEAD1}">
      <dsp:nvSpPr>
        <dsp:cNvPr id="0" name=""/>
        <dsp:cNvSpPr/>
      </dsp:nvSpPr>
      <dsp:spPr>
        <a:xfrm>
          <a:off x="857250" y="0"/>
          <a:ext cx="9715500" cy="5603887"/>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5D15155-D71F-4BBF-A0E7-0E5F798811DD}">
      <dsp:nvSpPr>
        <dsp:cNvPr id="0" name=""/>
        <dsp:cNvSpPr/>
      </dsp:nvSpPr>
      <dsp:spPr>
        <a:xfrm>
          <a:off x="387325" y="1681166"/>
          <a:ext cx="3429000" cy="2241554"/>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IN" sz="3100" b="1" kern="1200" dirty="0"/>
            <a:t>Module 1 – Motion Detection and Face Recognition</a:t>
          </a:r>
          <a:endParaRPr lang="en-IN" sz="3100" kern="1200" dirty="0"/>
        </a:p>
      </dsp:txBody>
      <dsp:txXfrm>
        <a:off x="496749" y="1790590"/>
        <a:ext cx="3210152" cy="2022706"/>
      </dsp:txXfrm>
    </dsp:sp>
    <dsp:sp modelId="{ECCC6B47-0793-4A63-9B5C-B95AD9AD2EA4}">
      <dsp:nvSpPr>
        <dsp:cNvPr id="0" name=""/>
        <dsp:cNvSpPr/>
      </dsp:nvSpPr>
      <dsp:spPr>
        <a:xfrm>
          <a:off x="4000499" y="1681166"/>
          <a:ext cx="3429000" cy="2241554"/>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IN" sz="3100" b="1" kern="1200" dirty="0"/>
            <a:t>Module 2 – Cryptographic Evidence Protection</a:t>
          </a:r>
          <a:endParaRPr lang="en-IN" sz="3100" kern="1200" dirty="0"/>
        </a:p>
      </dsp:txBody>
      <dsp:txXfrm>
        <a:off x="4109923" y="1790590"/>
        <a:ext cx="3210152" cy="2022706"/>
      </dsp:txXfrm>
    </dsp:sp>
    <dsp:sp modelId="{4487D044-6FF7-45B9-9626-FC7BDC2F449D}">
      <dsp:nvSpPr>
        <dsp:cNvPr id="0" name=""/>
        <dsp:cNvSpPr/>
      </dsp:nvSpPr>
      <dsp:spPr>
        <a:xfrm>
          <a:off x="7613674" y="1681166"/>
          <a:ext cx="3429000" cy="2241554"/>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IN" sz="3100" b="1" kern="1200" dirty="0"/>
            <a:t>Module 3 – Secure Log </a:t>
          </a:r>
          <a:r>
            <a:rPr lang="en-IN" sz="3100" b="1" kern="1200"/>
            <a:t>Management &amp; Alert Notification </a:t>
          </a:r>
          <a:endParaRPr lang="en-IN" sz="3100" kern="1200" dirty="0"/>
        </a:p>
      </dsp:txBody>
      <dsp:txXfrm>
        <a:off x="7723098" y="1790590"/>
        <a:ext cx="3210152" cy="2022706"/>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1341489A-A834-4E6F-ACFA-0E6F318301BB}" type="datetimeFigureOut">
              <a:rPr lang="en-IN" smtClean="0"/>
              <a:t>02-09-2026</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F46E7FD0-6C52-41B8-A9E6-7A7D74AB6DC6}" type="slidenum">
              <a:rPr lang="en-IN" smtClean="0"/>
              <a:t>‹#›</a:t>
            </a:fld>
            <a:endParaRPr lang="en-IN"/>
          </a:p>
        </p:txBody>
      </p:sp>
    </p:spTree>
    <p:extLst>
      <p:ext uri="{BB962C8B-B14F-4D97-AF65-F5344CB8AC3E}">
        <p14:creationId xmlns:p14="http://schemas.microsoft.com/office/powerpoint/2010/main" val="7755870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46E7FD0-6C52-41B8-A9E6-7A7D74AB6DC6}" type="slidenum">
              <a:rPr lang="en-IN" smtClean="0"/>
              <a:t>14</a:t>
            </a:fld>
            <a:endParaRPr lang="en-IN"/>
          </a:p>
        </p:txBody>
      </p:sp>
    </p:spTree>
    <p:extLst>
      <p:ext uri="{BB962C8B-B14F-4D97-AF65-F5344CB8AC3E}">
        <p14:creationId xmlns:p14="http://schemas.microsoft.com/office/powerpoint/2010/main" val="10006055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4400" b="0" i="0">
                <a:solidFill>
                  <a:schemeClr val="tx1"/>
                </a:solidFill>
                <a:latin typeface="Times New Roman"/>
                <a:cs typeface="Times New Roman"/>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defRPr sz="1200" b="0" i="0">
                <a:solidFill>
                  <a:srgbClr val="888888"/>
                </a:solidFill>
                <a:latin typeface="Calibri"/>
                <a:cs typeface="Calibri"/>
              </a:defRPr>
            </a:lvl1pPr>
          </a:lstStyle>
          <a:p>
            <a:pPr marL="12700">
              <a:lnSpc>
                <a:spcPts val="1240"/>
              </a:lnSpc>
            </a:pPr>
            <a:r>
              <a:rPr spc="-10" dirty="0"/>
              <a:t>3/27/2025</a:t>
            </a:r>
          </a:p>
        </p:txBody>
      </p:sp>
      <p:sp>
        <p:nvSpPr>
          <p:cNvPr id="5" name="Holder 5"/>
          <p:cNvSpPr>
            <a:spLocks noGrp="1"/>
          </p:cNvSpPr>
          <p:nvPr>
            <p:ph type="dt" sz="half" idx="6"/>
          </p:nvPr>
        </p:nvSpPr>
        <p:spPr/>
        <p:txBody>
          <a:bodyPr lIns="0" tIns="0" rIns="0" bIns="0"/>
          <a:lstStyle>
            <a:lvl1pPr>
              <a:defRPr sz="1200" b="0" i="0">
                <a:solidFill>
                  <a:srgbClr val="888888"/>
                </a:solidFill>
                <a:latin typeface="Calibri"/>
                <a:cs typeface="Calibri"/>
              </a:defRPr>
            </a:lvl1pPr>
          </a:lstStyle>
          <a:p>
            <a:pPr marL="12700">
              <a:lnSpc>
                <a:spcPts val="1240"/>
              </a:lnSpc>
            </a:pPr>
            <a:r>
              <a:rPr spc="-10" dirty="0"/>
              <a:t>CAPSTONE</a:t>
            </a:r>
            <a:r>
              <a:rPr spc="-50" dirty="0"/>
              <a:t> </a:t>
            </a:r>
            <a:r>
              <a:rPr spc="-10" dirty="0"/>
              <a:t>PROJECT</a:t>
            </a:r>
          </a:p>
        </p:txBody>
      </p:sp>
      <p:sp>
        <p:nvSpPr>
          <p:cNvPr id="6" name="Holder 6"/>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12700">
              <a:lnSpc>
                <a:spcPts val="1240"/>
              </a:lnSpc>
            </a:pPr>
            <a:fld id="{81D60167-4931-47E6-BA6A-407CBD079E47}" type="slidenum">
              <a:rPr spc="-25" dirty="0"/>
              <a:t>‹#›</a:t>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defRPr sz="1200" b="0" i="0">
                <a:solidFill>
                  <a:srgbClr val="888888"/>
                </a:solidFill>
                <a:latin typeface="Calibri"/>
                <a:cs typeface="Calibri"/>
              </a:defRPr>
            </a:lvl1pPr>
          </a:lstStyle>
          <a:p>
            <a:pPr marL="12700">
              <a:lnSpc>
                <a:spcPts val="1240"/>
              </a:lnSpc>
            </a:pPr>
            <a:r>
              <a:rPr spc="-10" dirty="0"/>
              <a:t>3/27/2025</a:t>
            </a:r>
          </a:p>
        </p:txBody>
      </p:sp>
      <p:sp>
        <p:nvSpPr>
          <p:cNvPr id="5" name="Holder 5"/>
          <p:cNvSpPr>
            <a:spLocks noGrp="1"/>
          </p:cNvSpPr>
          <p:nvPr>
            <p:ph type="dt" sz="half" idx="6"/>
          </p:nvPr>
        </p:nvSpPr>
        <p:spPr/>
        <p:txBody>
          <a:bodyPr lIns="0" tIns="0" rIns="0" bIns="0"/>
          <a:lstStyle>
            <a:lvl1pPr>
              <a:defRPr sz="1200" b="0" i="0">
                <a:solidFill>
                  <a:srgbClr val="888888"/>
                </a:solidFill>
                <a:latin typeface="Calibri"/>
                <a:cs typeface="Calibri"/>
              </a:defRPr>
            </a:lvl1pPr>
          </a:lstStyle>
          <a:p>
            <a:pPr marL="12700">
              <a:lnSpc>
                <a:spcPts val="1240"/>
              </a:lnSpc>
            </a:pPr>
            <a:r>
              <a:rPr spc="-10" dirty="0"/>
              <a:t>CAPSTONE</a:t>
            </a:r>
            <a:r>
              <a:rPr spc="-50" dirty="0"/>
              <a:t> </a:t>
            </a:r>
            <a:r>
              <a:rPr spc="-10" dirty="0"/>
              <a:t>PROJECT</a:t>
            </a:r>
          </a:p>
        </p:txBody>
      </p:sp>
      <p:sp>
        <p:nvSpPr>
          <p:cNvPr id="6" name="Holder 6"/>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12700">
              <a:lnSpc>
                <a:spcPts val="1240"/>
              </a:lnSpc>
            </a:pPr>
            <a:fld id="{81D60167-4931-47E6-BA6A-407CBD079E47}" type="slidenum">
              <a:rPr spc="-25" dirty="0"/>
              <a:t>‹#›</a:t>
            </a:fld>
            <a:endParaRPr spc="-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200" b="0" i="0">
                <a:solidFill>
                  <a:srgbClr val="888888"/>
                </a:solidFill>
                <a:latin typeface="Calibri"/>
                <a:cs typeface="Calibri"/>
              </a:defRPr>
            </a:lvl1pPr>
          </a:lstStyle>
          <a:p>
            <a:pPr marL="12700">
              <a:lnSpc>
                <a:spcPts val="1240"/>
              </a:lnSpc>
            </a:pPr>
            <a:r>
              <a:rPr spc="-10" dirty="0"/>
              <a:t>3/27/2025</a:t>
            </a:r>
          </a:p>
        </p:txBody>
      </p:sp>
      <p:sp>
        <p:nvSpPr>
          <p:cNvPr id="6" name="Holder 6"/>
          <p:cNvSpPr>
            <a:spLocks noGrp="1"/>
          </p:cNvSpPr>
          <p:nvPr>
            <p:ph type="dt" sz="half" idx="6"/>
          </p:nvPr>
        </p:nvSpPr>
        <p:spPr/>
        <p:txBody>
          <a:bodyPr lIns="0" tIns="0" rIns="0" bIns="0"/>
          <a:lstStyle>
            <a:lvl1pPr>
              <a:defRPr sz="1200" b="0" i="0">
                <a:solidFill>
                  <a:srgbClr val="888888"/>
                </a:solidFill>
                <a:latin typeface="Calibri"/>
                <a:cs typeface="Calibri"/>
              </a:defRPr>
            </a:lvl1pPr>
          </a:lstStyle>
          <a:p>
            <a:pPr marL="12700">
              <a:lnSpc>
                <a:spcPts val="1240"/>
              </a:lnSpc>
            </a:pPr>
            <a:r>
              <a:rPr spc="-10" dirty="0"/>
              <a:t>CAPSTONE</a:t>
            </a:r>
            <a:r>
              <a:rPr spc="-50" dirty="0"/>
              <a:t> </a:t>
            </a:r>
            <a:r>
              <a:rPr spc="-10" dirty="0"/>
              <a:t>PROJECT</a:t>
            </a:r>
          </a:p>
        </p:txBody>
      </p:sp>
      <p:sp>
        <p:nvSpPr>
          <p:cNvPr id="7" name="Holder 7"/>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12700">
              <a:lnSpc>
                <a:spcPts val="1240"/>
              </a:lnSpc>
            </a:pPr>
            <a:fld id="{81D60167-4931-47E6-BA6A-407CBD079E47}" type="slidenum">
              <a:rPr spc="-25" dirty="0"/>
              <a:t>‹#›</a:t>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defRPr sz="1200" b="0" i="0">
                <a:solidFill>
                  <a:srgbClr val="888888"/>
                </a:solidFill>
                <a:latin typeface="Calibri"/>
                <a:cs typeface="Calibri"/>
              </a:defRPr>
            </a:lvl1pPr>
          </a:lstStyle>
          <a:p>
            <a:pPr marL="12700">
              <a:lnSpc>
                <a:spcPts val="1240"/>
              </a:lnSpc>
            </a:pPr>
            <a:r>
              <a:rPr spc="-10" dirty="0"/>
              <a:t>3/27/2025</a:t>
            </a:r>
          </a:p>
        </p:txBody>
      </p:sp>
      <p:sp>
        <p:nvSpPr>
          <p:cNvPr id="4" name="Holder 4"/>
          <p:cNvSpPr>
            <a:spLocks noGrp="1"/>
          </p:cNvSpPr>
          <p:nvPr>
            <p:ph type="dt" sz="half" idx="6"/>
          </p:nvPr>
        </p:nvSpPr>
        <p:spPr/>
        <p:txBody>
          <a:bodyPr lIns="0" tIns="0" rIns="0" bIns="0"/>
          <a:lstStyle>
            <a:lvl1pPr>
              <a:defRPr sz="1200" b="0" i="0">
                <a:solidFill>
                  <a:srgbClr val="888888"/>
                </a:solidFill>
                <a:latin typeface="Calibri"/>
                <a:cs typeface="Calibri"/>
              </a:defRPr>
            </a:lvl1pPr>
          </a:lstStyle>
          <a:p>
            <a:pPr marL="12700">
              <a:lnSpc>
                <a:spcPts val="1240"/>
              </a:lnSpc>
            </a:pPr>
            <a:r>
              <a:rPr spc="-10" dirty="0"/>
              <a:t>CAPSTONE</a:t>
            </a:r>
            <a:r>
              <a:rPr spc="-50" dirty="0"/>
              <a:t> </a:t>
            </a:r>
            <a:r>
              <a:rPr spc="-10" dirty="0"/>
              <a:t>PROJECT</a:t>
            </a:r>
          </a:p>
        </p:txBody>
      </p:sp>
      <p:sp>
        <p:nvSpPr>
          <p:cNvPr id="5" name="Holder 5"/>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12700">
              <a:lnSpc>
                <a:spcPts val="1240"/>
              </a:lnSpc>
            </a:pPr>
            <a:fld id="{81D60167-4931-47E6-BA6A-407CBD079E47}" type="slidenum">
              <a:rPr spc="-25" dirty="0"/>
              <a:t>‹#›</a:t>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200" b="0" i="0">
                <a:solidFill>
                  <a:srgbClr val="888888"/>
                </a:solidFill>
                <a:latin typeface="Calibri"/>
                <a:cs typeface="Calibri"/>
              </a:defRPr>
            </a:lvl1pPr>
          </a:lstStyle>
          <a:p>
            <a:pPr marL="12700">
              <a:lnSpc>
                <a:spcPts val="1240"/>
              </a:lnSpc>
            </a:pPr>
            <a:r>
              <a:rPr spc="-10" dirty="0"/>
              <a:t>3/27/2025</a:t>
            </a:r>
          </a:p>
        </p:txBody>
      </p:sp>
      <p:sp>
        <p:nvSpPr>
          <p:cNvPr id="3" name="Holder 3"/>
          <p:cNvSpPr>
            <a:spLocks noGrp="1"/>
          </p:cNvSpPr>
          <p:nvPr>
            <p:ph type="dt" sz="half" idx="6"/>
          </p:nvPr>
        </p:nvSpPr>
        <p:spPr/>
        <p:txBody>
          <a:bodyPr lIns="0" tIns="0" rIns="0" bIns="0"/>
          <a:lstStyle>
            <a:lvl1pPr>
              <a:defRPr sz="1200" b="0" i="0">
                <a:solidFill>
                  <a:srgbClr val="888888"/>
                </a:solidFill>
                <a:latin typeface="Calibri"/>
                <a:cs typeface="Calibri"/>
              </a:defRPr>
            </a:lvl1pPr>
          </a:lstStyle>
          <a:p>
            <a:pPr marL="12700">
              <a:lnSpc>
                <a:spcPts val="1240"/>
              </a:lnSpc>
            </a:pPr>
            <a:r>
              <a:rPr spc="-10" dirty="0"/>
              <a:t>CAPSTONE</a:t>
            </a:r>
            <a:r>
              <a:rPr spc="-50" dirty="0"/>
              <a:t> </a:t>
            </a:r>
            <a:r>
              <a:rPr spc="-10" dirty="0"/>
              <a:t>PROJECT</a:t>
            </a:r>
          </a:p>
        </p:txBody>
      </p:sp>
      <p:sp>
        <p:nvSpPr>
          <p:cNvPr id="4" name="Holder 4"/>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12700">
              <a:lnSpc>
                <a:spcPts val="1240"/>
              </a:lnSpc>
            </a:pPr>
            <a:fld id="{81D60167-4931-47E6-BA6A-407CBD079E47}" type="slidenum">
              <a:rPr spc="-25" dirty="0"/>
              <a:t>‹#›</a:t>
            </a:fld>
            <a:endParaRPr spc="-25"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713134" y="609269"/>
            <a:ext cx="10374945" cy="1068070"/>
          </a:xfrm>
          <a:prstGeom prst="rect">
            <a:avLst/>
          </a:prstGeom>
        </p:spPr>
        <p:txBody>
          <a:bodyPr wrap="square" lIns="0" tIns="0" rIns="0" bIns="0">
            <a:spAutoFit/>
          </a:bodyPr>
          <a:lstStyle>
            <a:lvl1pPr>
              <a:defRPr sz="4400" b="0" i="0">
                <a:solidFill>
                  <a:schemeClr val="tx1"/>
                </a:solidFill>
                <a:latin typeface="Times New Roman"/>
                <a:cs typeface="Times New Roman"/>
              </a:defRPr>
            </a:lvl1pPr>
          </a:lstStyle>
          <a:p>
            <a:endParaRPr/>
          </a:p>
        </p:txBody>
      </p:sp>
      <p:sp>
        <p:nvSpPr>
          <p:cNvPr id="3" name="Holder 3"/>
          <p:cNvSpPr>
            <a:spLocks noGrp="1"/>
          </p:cNvSpPr>
          <p:nvPr>
            <p:ph type="body" idx="1"/>
          </p:nvPr>
        </p:nvSpPr>
        <p:spPr>
          <a:xfrm>
            <a:off x="663575" y="1619250"/>
            <a:ext cx="11006455" cy="4797425"/>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911225" y="6466776"/>
            <a:ext cx="683260" cy="177800"/>
          </a:xfrm>
          <a:prstGeom prst="rect">
            <a:avLst/>
          </a:prstGeom>
        </p:spPr>
        <p:txBody>
          <a:bodyPr wrap="square" lIns="0" tIns="0" rIns="0" bIns="0">
            <a:spAutoFit/>
          </a:bodyPr>
          <a:lstStyle>
            <a:lvl1pPr>
              <a:defRPr sz="1200" b="0" i="0">
                <a:solidFill>
                  <a:srgbClr val="888888"/>
                </a:solidFill>
                <a:latin typeface="Calibri"/>
                <a:cs typeface="Calibri"/>
              </a:defRPr>
            </a:lvl1pPr>
          </a:lstStyle>
          <a:p>
            <a:pPr marL="12700">
              <a:lnSpc>
                <a:spcPts val="1240"/>
              </a:lnSpc>
            </a:pPr>
            <a:r>
              <a:rPr spc="-10" dirty="0"/>
              <a:t>3/27/2025</a:t>
            </a:r>
          </a:p>
        </p:txBody>
      </p:sp>
      <p:sp>
        <p:nvSpPr>
          <p:cNvPr id="5" name="Holder 5"/>
          <p:cNvSpPr>
            <a:spLocks noGrp="1"/>
          </p:cNvSpPr>
          <p:nvPr>
            <p:ph type="dt" sz="half" idx="6"/>
          </p:nvPr>
        </p:nvSpPr>
        <p:spPr>
          <a:xfrm>
            <a:off x="5467486" y="6466776"/>
            <a:ext cx="1256665" cy="177800"/>
          </a:xfrm>
          <a:prstGeom prst="rect">
            <a:avLst/>
          </a:prstGeom>
        </p:spPr>
        <p:txBody>
          <a:bodyPr wrap="square" lIns="0" tIns="0" rIns="0" bIns="0">
            <a:spAutoFit/>
          </a:bodyPr>
          <a:lstStyle>
            <a:lvl1pPr>
              <a:defRPr sz="1200" b="0" i="0">
                <a:solidFill>
                  <a:srgbClr val="888888"/>
                </a:solidFill>
                <a:latin typeface="Calibri"/>
                <a:cs typeface="Calibri"/>
              </a:defRPr>
            </a:lvl1pPr>
          </a:lstStyle>
          <a:p>
            <a:pPr marL="12700">
              <a:lnSpc>
                <a:spcPts val="1240"/>
              </a:lnSpc>
            </a:pPr>
            <a:r>
              <a:rPr spc="-10" dirty="0"/>
              <a:t>CAPSTONE</a:t>
            </a:r>
            <a:r>
              <a:rPr spc="-50" dirty="0"/>
              <a:t> </a:t>
            </a:r>
            <a:r>
              <a:rPr spc="-10" dirty="0"/>
              <a:t>PROJECT</a:t>
            </a:r>
          </a:p>
        </p:txBody>
      </p:sp>
      <p:sp>
        <p:nvSpPr>
          <p:cNvPr id="6" name="Holder 6"/>
          <p:cNvSpPr>
            <a:spLocks noGrp="1"/>
          </p:cNvSpPr>
          <p:nvPr>
            <p:ph type="sldNum" sz="quarter" idx="7"/>
          </p:nvPr>
        </p:nvSpPr>
        <p:spPr>
          <a:xfrm>
            <a:off x="11100891" y="6466776"/>
            <a:ext cx="217804" cy="177800"/>
          </a:xfrm>
          <a:prstGeom prst="rect">
            <a:avLst/>
          </a:prstGeom>
        </p:spPr>
        <p:txBody>
          <a:bodyPr wrap="square" lIns="0" tIns="0" rIns="0" bIns="0">
            <a:spAutoFit/>
          </a:bodyPr>
          <a:lstStyle>
            <a:lvl1pPr>
              <a:defRPr sz="1200" b="0" i="0">
                <a:solidFill>
                  <a:srgbClr val="888888"/>
                </a:solidFill>
                <a:latin typeface="Calibri"/>
                <a:cs typeface="Calibri"/>
              </a:defRPr>
            </a:lvl1pPr>
          </a:lstStyle>
          <a:p>
            <a:pPr marL="12700">
              <a:lnSpc>
                <a:spcPts val="1240"/>
              </a:lnSpc>
            </a:pPr>
            <a:fld id="{81D60167-4931-47E6-BA6A-407CBD079E47}" type="slidenum">
              <a:rPr spc="-25" dirty="0"/>
              <a:t>‹#›</a:t>
            </a:fld>
            <a:endParaRPr spc="-2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5.jpe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211262" y="1833635"/>
            <a:ext cx="10037761" cy="887422"/>
          </a:xfrm>
          <a:prstGeom prst="rect">
            <a:avLst/>
          </a:prstGeom>
        </p:spPr>
        <p:txBody>
          <a:bodyPr vert="horz" wrap="square" lIns="0" tIns="147320" rIns="0" bIns="0" rtlCol="0">
            <a:spAutoFit/>
          </a:bodyPr>
          <a:lstStyle/>
          <a:p>
            <a:pPr marL="1158875" marR="5080" indent="-1146810" algn="ctr">
              <a:spcBef>
                <a:spcPts val="1160"/>
              </a:spcBef>
            </a:pPr>
            <a:r>
              <a:rPr lang="en-IN" sz="2400" b="1" dirty="0">
                <a:latin typeface="Times New Roman" panose="02020603050405020304" pitchFamily="18" charset="0"/>
                <a:cs typeface="Times New Roman" panose="02020603050405020304" pitchFamily="18" charset="0"/>
              </a:rPr>
              <a:t>Intelligent Intrusion Detection System Using Face Recognition and</a:t>
            </a:r>
            <a:br>
              <a:rPr lang="en-IN" sz="2400" b="1" dirty="0">
                <a:latin typeface="Times New Roman" panose="02020603050405020304" pitchFamily="18" charset="0"/>
                <a:cs typeface="Times New Roman" panose="02020603050405020304" pitchFamily="18" charset="0"/>
              </a:rPr>
            </a:br>
            <a:r>
              <a:rPr lang="en-IN" sz="2400" b="1" dirty="0">
                <a:latin typeface="Times New Roman" panose="02020603050405020304" pitchFamily="18" charset="0"/>
                <a:cs typeface="Times New Roman" panose="02020603050405020304" pitchFamily="18" charset="0"/>
              </a:rPr>
              <a:t>Cryptographic Security</a:t>
            </a:r>
            <a:endParaRPr sz="2400" dirty="0"/>
          </a:p>
        </p:txBody>
      </p:sp>
      <p:sp>
        <p:nvSpPr>
          <p:cNvPr id="3" name="object 3"/>
          <p:cNvSpPr txBox="1"/>
          <p:nvPr/>
        </p:nvSpPr>
        <p:spPr>
          <a:xfrm>
            <a:off x="1211262" y="4648200"/>
            <a:ext cx="4433252" cy="1384995"/>
          </a:xfrm>
          <a:prstGeom prst="rect">
            <a:avLst/>
          </a:prstGeom>
        </p:spPr>
        <p:txBody>
          <a:bodyPr vert="horz" wrap="square" lIns="0" tIns="30480" rIns="0" bIns="0" rtlCol="0">
            <a:spAutoFit/>
          </a:bodyPr>
          <a:lstStyle/>
          <a:p>
            <a:pPr marL="635" algn="ctr"/>
            <a:r>
              <a:rPr sz="2200" b="1" dirty="0">
                <a:latin typeface="Times New Roman"/>
                <a:cs typeface="Times New Roman"/>
              </a:rPr>
              <a:t>Course</a:t>
            </a:r>
            <a:r>
              <a:rPr sz="2200" b="1" spc="-20" dirty="0">
                <a:latin typeface="Times New Roman"/>
                <a:cs typeface="Times New Roman"/>
              </a:rPr>
              <a:t> </a:t>
            </a:r>
            <a:r>
              <a:rPr sz="2200" b="1" dirty="0">
                <a:latin typeface="Times New Roman"/>
                <a:cs typeface="Times New Roman"/>
              </a:rPr>
              <a:t>Faculty</a:t>
            </a:r>
            <a:r>
              <a:rPr sz="2200" b="1" spc="-15" dirty="0">
                <a:latin typeface="Times New Roman"/>
                <a:cs typeface="Times New Roman"/>
              </a:rPr>
              <a:t> </a:t>
            </a:r>
            <a:r>
              <a:rPr sz="2200" b="1" dirty="0">
                <a:latin typeface="Times New Roman"/>
                <a:cs typeface="Times New Roman"/>
              </a:rPr>
              <a:t>:</a:t>
            </a:r>
            <a:r>
              <a:rPr sz="2200" b="1" spc="-5" dirty="0">
                <a:latin typeface="Times New Roman"/>
                <a:cs typeface="Times New Roman"/>
              </a:rPr>
              <a:t> </a:t>
            </a:r>
            <a:r>
              <a:rPr sz="2200" spc="-15" dirty="0">
                <a:latin typeface="Times New Roman"/>
                <a:cs typeface="Times New Roman"/>
              </a:rPr>
              <a:t> </a:t>
            </a:r>
            <a:r>
              <a:rPr lang="en-IN" sz="2200" dirty="0">
                <a:latin typeface="Times New Roman"/>
                <a:cs typeface="Times New Roman"/>
              </a:rPr>
              <a:t>Dr.</a:t>
            </a:r>
            <a:r>
              <a:rPr lang="en-IN" sz="2200" spc="-15" dirty="0">
                <a:latin typeface="Times New Roman"/>
                <a:cs typeface="Times New Roman"/>
              </a:rPr>
              <a:t> </a:t>
            </a:r>
            <a:r>
              <a:rPr lang="en-IN" sz="2200" dirty="0">
                <a:latin typeface="Times New Roman"/>
                <a:cs typeface="Times New Roman"/>
              </a:rPr>
              <a:t>R.</a:t>
            </a:r>
            <a:r>
              <a:rPr lang="en-IN" sz="2200" spc="-15" dirty="0">
                <a:latin typeface="Times New Roman"/>
                <a:cs typeface="Times New Roman"/>
              </a:rPr>
              <a:t> </a:t>
            </a:r>
            <a:r>
              <a:rPr lang="en-IN" sz="2200" dirty="0">
                <a:latin typeface="Times New Roman"/>
                <a:cs typeface="Times New Roman"/>
              </a:rPr>
              <a:t>Dharani,</a:t>
            </a:r>
            <a:r>
              <a:rPr lang="en-IN" sz="2200" spc="-10" dirty="0">
                <a:latin typeface="Times New Roman"/>
                <a:cs typeface="Times New Roman"/>
              </a:rPr>
              <a:t> </a:t>
            </a:r>
            <a:r>
              <a:rPr lang="en-IN" sz="2200" dirty="0">
                <a:latin typeface="Times New Roman"/>
                <a:cs typeface="Times New Roman"/>
              </a:rPr>
              <a:t>Professor/Edge</a:t>
            </a:r>
            <a:r>
              <a:rPr lang="en-IN" sz="2200" spc="-20" dirty="0">
                <a:latin typeface="Times New Roman"/>
                <a:cs typeface="Times New Roman"/>
              </a:rPr>
              <a:t> </a:t>
            </a:r>
            <a:r>
              <a:rPr lang="en-IN" sz="2200" spc="-10" dirty="0">
                <a:latin typeface="Times New Roman"/>
                <a:cs typeface="Times New Roman"/>
              </a:rPr>
              <a:t>Computing,</a:t>
            </a:r>
            <a:endParaRPr lang="en-IN" sz="2200" dirty="0">
              <a:latin typeface="Times New Roman"/>
              <a:cs typeface="Times New Roman"/>
            </a:endParaRPr>
          </a:p>
          <a:p>
            <a:pPr>
              <a:spcBef>
                <a:spcPts val="25"/>
              </a:spcBef>
            </a:pPr>
            <a:endParaRPr sz="2200" dirty="0">
              <a:latin typeface="Times New Roman"/>
              <a:cs typeface="Times New Roman"/>
            </a:endParaRPr>
          </a:p>
          <a:p>
            <a:pPr marL="3175" algn="ctr"/>
            <a:r>
              <a:rPr sz="2200" b="1" dirty="0">
                <a:latin typeface="Times New Roman"/>
                <a:cs typeface="Times New Roman"/>
              </a:rPr>
              <a:t>SIMATS</a:t>
            </a:r>
            <a:r>
              <a:rPr sz="2200" b="1" spc="-65" dirty="0">
                <a:latin typeface="Times New Roman"/>
                <a:cs typeface="Times New Roman"/>
              </a:rPr>
              <a:t> </a:t>
            </a:r>
            <a:r>
              <a:rPr sz="2200" b="1" dirty="0">
                <a:latin typeface="Times New Roman"/>
                <a:cs typeface="Times New Roman"/>
              </a:rPr>
              <a:t>Engineering,</a:t>
            </a:r>
            <a:r>
              <a:rPr sz="2200" b="1" spc="-60" dirty="0">
                <a:latin typeface="Times New Roman"/>
                <a:cs typeface="Times New Roman"/>
              </a:rPr>
              <a:t> </a:t>
            </a:r>
            <a:r>
              <a:rPr sz="2200" b="1" spc="-10" dirty="0">
                <a:latin typeface="Times New Roman"/>
                <a:cs typeface="Times New Roman"/>
              </a:rPr>
              <a:t>SIMATS</a:t>
            </a:r>
            <a:endParaRPr sz="2200" dirty="0">
              <a:latin typeface="Times New Roman"/>
              <a:cs typeface="Times New Roman"/>
            </a:endParaRPr>
          </a:p>
        </p:txBody>
      </p:sp>
      <p:pic>
        <p:nvPicPr>
          <p:cNvPr id="4" name="object 4"/>
          <p:cNvPicPr/>
          <p:nvPr/>
        </p:nvPicPr>
        <p:blipFill>
          <a:blip r:embed="rId2" cstate="print"/>
          <a:stretch>
            <a:fillRect/>
          </a:stretch>
        </p:blipFill>
        <p:spPr>
          <a:xfrm>
            <a:off x="1211262" y="135028"/>
            <a:ext cx="10037762" cy="1030286"/>
          </a:xfrm>
          <a:prstGeom prst="rect">
            <a:avLst/>
          </a:prstGeom>
        </p:spPr>
      </p:pic>
      <p:sp>
        <p:nvSpPr>
          <p:cNvPr id="6" name="object 6"/>
          <p:cNvSpPr txBox="1">
            <a:spLocks noGrp="1"/>
          </p:cNvSpPr>
          <p:nvPr>
            <p:ph type="dt" sz="half" idx="6"/>
          </p:nvPr>
        </p:nvSpPr>
        <p:spPr>
          <a:prstGeom prst="rect">
            <a:avLst/>
          </a:prstGeom>
        </p:spPr>
        <p:txBody>
          <a:bodyPr vert="horz" wrap="square" lIns="0" tIns="0" rIns="0" bIns="0" rtlCol="0">
            <a:spAutoFit/>
          </a:bodyPr>
          <a:lstStyle/>
          <a:p>
            <a:pPr marL="12700">
              <a:lnSpc>
                <a:spcPts val="1240"/>
              </a:lnSpc>
            </a:pPr>
            <a:r>
              <a:rPr spc="-10" dirty="0"/>
              <a:t>CAPSTONE</a:t>
            </a:r>
            <a:r>
              <a:rPr spc="-50" dirty="0"/>
              <a:t> </a:t>
            </a:r>
            <a:r>
              <a:rPr spc="-10" dirty="0"/>
              <a:t>PROJECT</a:t>
            </a: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1</a:t>
            </a:fld>
            <a:endParaRPr spc="-25" dirty="0"/>
          </a:p>
        </p:txBody>
      </p:sp>
      <p:sp>
        <p:nvSpPr>
          <p:cNvPr id="8" name="TextBox 7"/>
          <p:cNvSpPr txBox="1"/>
          <p:nvPr/>
        </p:nvSpPr>
        <p:spPr>
          <a:xfrm>
            <a:off x="1211262" y="2971799"/>
            <a:ext cx="10037762" cy="830997"/>
          </a:xfrm>
          <a:prstGeom prst="rect">
            <a:avLst/>
          </a:prstGeom>
          <a:noFill/>
        </p:spPr>
        <p:txBody>
          <a:bodyPr wrap="square" rtlCol="0">
            <a:spAutoFit/>
          </a:bodyPr>
          <a:lstStyle/>
          <a:p>
            <a:pPr lvl="0" algn="ctr" rtl="0"/>
            <a:r>
              <a:rPr lang="en-GB" sz="2400" b="1" i="0" u="none" strike="noStrike" cap="none" dirty="0">
                <a:solidFill>
                  <a:schemeClr val="dk1"/>
                </a:solidFill>
                <a:latin typeface="Times New Roman"/>
                <a:ea typeface="Times New Roman"/>
                <a:cs typeface="Times New Roman"/>
                <a:sym typeface="Times New Roman"/>
              </a:rPr>
              <a:t>CSA5113-</a:t>
            </a:r>
            <a:r>
              <a:rPr lang="en-GB" sz="2400" b="1" dirty="0">
                <a:solidFill>
                  <a:srgbClr val="333333"/>
                </a:solidFill>
                <a:latin typeface="Times New Roman"/>
                <a:ea typeface="Times New Roman"/>
                <a:cs typeface="Times New Roman"/>
                <a:sym typeface="Times New Roman"/>
              </a:rPr>
              <a:t>Cryptography and Network Security</a:t>
            </a:r>
            <a:endParaRPr lang="en-GB" sz="2400" b="1" i="0" u="none" strike="noStrike" cap="none" dirty="0">
              <a:solidFill>
                <a:schemeClr val="dk1"/>
              </a:solidFill>
              <a:latin typeface="Times New Roman"/>
              <a:ea typeface="Times New Roman"/>
              <a:cs typeface="Times New Roman"/>
              <a:sym typeface="Times New Roman"/>
            </a:endParaRPr>
          </a:p>
          <a:p>
            <a:endParaRPr lang="en-IN" sz="2400" b="1" dirty="0"/>
          </a:p>
        </p:txBody>
      </p:sp>
      <p:sp>
        <p:nvSpPr>
          <p:cNvPr id="9" name="TextBox 8"/>
          <p:cNvSpPr txBox="1"/>
          <p:nvPr/>
        </p:nvSpPr>
        <p:spPr>
          <a:xfrm>
            <a:off x="7696200" y="4945867"/>
            <a:ext cx="4038600" cy="1231106"/>
          </a:xfrm>
          <a:prstGeom prst="rect">
            <a:avLst/>
          </a:prstGeom>
          <a:noFill/>
        </p:spPr>
        <p:txBody>
          <a:bodyPr wrap="square" rtlCol="0">
            <a:spAutoFit/>
          </a:bodyPr>
          <a:lstStyle/>
          <a:p>
            <a:pPr marL="0" lvl="0" indent="0" algn="ctr" rtl="0">
              <a:lnSpc>
                <a:spcPct val="100000"/>
              </a:lnSpc>
              <a:spcBef>
                <a:spcPts val="0"/>
              </a:spcBef>
              <a:spcAft>
                <a:spcPts val="0"/>
              </a:spcAft>
              <a:buClr>
                <a:schemeClr val="dk1"/>
              </a:buClr>
              <a:buSzPts val="2400"/>
              <a:buNone/>
            </a:pPr>
            <a:r>
              <a:rPr lang="en-GB" b="1" dirty="0">
                <a:latin typeface="Times New Roman"/>
                <a:ea typeface="Times New Roman"/>
                <a:cs typeface="Times New Roman"/>
                <a:sym typeface="Times New Roman"/>
              </a:rPr>
              <a:t>Presented By:</a:t>
            </a:r>
            <a:endParaRPr lang="en-GB" dirty="0"/>
          </a:p>
          <a:p>
            <a:pPr marL="0" lvl="0" indent="0" algn="ctr" rtl="0">
              <a:lnSpc>
                <a:spcPct val="100000"/>
              </a:lnSpc>
              <a:spcBef>
                <a:spcPts val="0"/>
              </a:spcBef>
              <a:spcAft>
                <a:spcPts val="0"/>
              </a:spcAft>
              <a:buClr>
                <a:schemeClr val="dk1"/>
              </a:buClr>
              <a:buSzPts val="2400"/>
              <a:buNone/>
            </a:pPr>
            <a:r>
              <a:rPr lang="en-GB" b="1" dirty="0">
                <a:latin typeface="Times New Roman"/>
                <a:ea typeface="Times New Roman"/>
                <a:cs typeface="Times New Roman"/>
                <a:sym typeface="Times New Roman"/>
              </a:rPr>
              <a:t>Sreeshanth Basineni (192372238)</a:t>
            </a:r>
          </a:p>
          <a:p>
            <a:pPr marL="0" lvl="0" indent="0" algn="ctr">
              <a:lnSpc>
                <a:spcPct val="100000"/>
              </a:lnSpc>
              <a:spcBef>
                <a:spcPts val="0"/>
              </a:spcBef>
            </a:pPr>
            <a:r>
              <a:rPr lang="en-GB" b="1" dirty="0">
                <a:latin typeface="Times New Roman"/>
                <a:ea typeface="Times New Roman"/>
                <a:cs typeface="Times New Roman"/>
                <a:sym typeface="Times New Roman"/>
              </a:rPr>
              <a:t>C. Bhuvaneswar Reddy (192372253)</a:t>
            </a:r>
          </a:p>
          <a:p>
            <a:pPr marL="0" lvl="0" indent="0" algn="ctr">
              <a:lnSpc>
                <a:spcPct val="100000"/>
              </a:lnSpc>
              <a:spcBef>
                <a:spcPts val="0"/>
              </a:spcBef>
            </a:pPr>
            <a:r>
              <a:rPr lang="en-GB" b="1" dirty="0">
                <a:latin typeface="Times New Roman"/>
                <a:ea typeface="Times New Roman"/>
                <a:cs typeface="Times New Roman"/>
                <a:sym typeface="Times New Roman"/>
              </a:rPr>
              <a:t>Kartheeka Repalle (192372289</a:t>
            </a:r>
            <a:r>
              <a:rPr lang="en-GB" sz="2000" b="1" dirty="0">
                <a:latin typeface="Times New Roman"/>
                <a:ea typeface="Times New Roman"/>
                <a:cs typeface="Times New Roman"/>
                <a:sym typeface="Times New Roman"/>
              </a:rPr>
              <a:t>)</a:t>
            </a:r>
            <a:endParaRPr lang="en-GB" b="1" dirty="0">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p:nvPr/>
        </p:nvSpPr>
        <p:spPr>
          <a:xfrm>
            <a:off x="725946" y="1524000"/>
            <a:ext cx="4074654" cy="4216539"/>
          </a:xfrm>
          <a:prstGeom prst="rect">
            <a:avLst/>
          </a:prstGeom>
        </p:spPr>
        <p:txBody>
          <a:bodyPr vert="horz" wrap="square" lIns="0" tIns="12700" rIns="0" bIns="0" rtlCol="0">
            <a:spAutoFit/>
          </a:bodyPr>
          <a:lstStyle/>
          <a:p>
            <a:pPr marL="194310" indent="-181610" algn="just">
              <a:spcBef>
                <a:spcPts val="100"/>
              </a:spcBef>
              <a:buFont typeface="Arial MT"/>
              <a:buChar char="•"/>
              <a:tabLst>
                <a:tab pos="194310" algn="l"/>
              </a:tabLst>
            </a:pPr>
            <a:r>
              <a:rPr lang="en-IN" sz="2200" dirty="0">
                <a:latin typeface="Times New Roman" pitchFamily="18" charset="0"/>
                <a:cs typeface="Times New Roman" pitchFamily="18" charset="0"/>
              </a:rPr>
              <a:t>Abstract</a:t>
            </a:r>
          </a:p>
          <a:p>
            <a:pPr marL="194310" indent="-181610" algn="just">
              <a:spcBef>
                <a:spcPts val="100"/>
              </a:spcBef>
              <a:buFont typeface="Arial MT"/>
              <a:buChar char="•"/>
              <a:tabLst>
                <a:tab pos="194310" algn="l"/>
              </a:tabLst>
            </a:pPr>
            <a:r>
              <a:rPr lang="en-IN" sz="2200" dirty="0">
                <a:latin typeface="Times New Roman" pitchFamily="18" charset="0"/>
                <a:cs typeface="Times New Roman" pitchFamily="18" charset="0"/>
              </a:rPr>
              <a:t>Introduction</a:t>
            </a:r>
          </a:p>
          <a:p>
            <a:pPr marL="194310" indent="-181610" algn="just">
              <a:spcBef>
                <a:spcPts val="100"/>
              </a:spcBef>
              <a:buFont typeface="Arial MT"/>
              <a:buChar char="•"/>
              <a:tabLst>
                <a:tab pos="194310" algn="l"/>
              </a:tabLst>
            </a:pPr>
            <a:r>
              <a:rPr lang="en-IN" sz="2200" dirty="0">
                <a:latin typeface="Times New Roman" pitchFamily="18" charset="0"/>
                <a:cs typeface="Times New Roman" pitchFamily="18" charset="0"/>
              </a:rPr>
              <a:t>Literature Review</a:t>
            </a:r>
          </a:p>
          <a:p>
            <a:pPr marL="194310" indent="-181610" algn="just">
              <a:spcBef>
                <a:spcPts val="100"/>
              </a:spcBef>
              <a:buFont typeface="Arial MT"/>
              <a:buChar char="•"/>
              <a:tabLst>
                <a:tab pos="194310" algn="l"/>
              </a:tabLst>
            </a:pPr>
            <a:r>
              <a:rPr lang="en-IN" sz="2200" dirty="0">
                <a:latin typeface="Times New Roman" pitchFamily="18" charset="0"/>
                <a:cs typeface="Times New Roman" pitchFamily="18" charset="0"/>
              </a:rPr>
              <a:t>Problem Statement</a:t>
            </a:r>
          </a:p>
          <a:p>
            <a:pPr marL="194310" indent="-181610" algn="just">
              <a:spcBef>
                <a:spcPts val="100"/>
              </a:spcBef>
              <a:buFont typeface="Arial MT"/>
              <a:buChar char="•"/>
              <a:tabLst>
                <a:tab pos="194310" algn="l"/>
              </a:tabLst>
            </a:pPr>
            <a:r>
              <a:rPr lang="en-US" sz="2200" dirty="0">
                <a:latin typeface="Times New Roman" pitchFamily="18" charset="0"/>
                <a:cs typeface="Times New Roman" pitchFamily="18" charset="0"/>
              </a:rPr>
              <a:t>Objectives</a:t>
            </a:r>
            <a:endParaRPr lang="en-US" sz="2200" spc="-10" dirty="0">
              <a:latin typeface="Times New Roman" pitchFamily="18" charset="0"/>
              <a:cs typeface="Times New Roman" pitchFamily="18" charset="0"/>
            </a:endParaRPr>
          </a:p>
          <a:p>
            <a:pPr marL="194310" indent="-181610" algn="just">
              <a:spcBef>
                <a:spcPts val="100"/>
              </a:spcBef>
              <a:buFont typeface="Arial MT"/>
              <a:buChar char="•"/>
              <a:tabLst>
                <a:tab pos="194310" algn="l"/>
              </a:tabLst>
            </a:pPr>
            <a:r>
              <a:rPr lang="en-IN" sz="2200" dirty="0">
                <a:latin typeface="Times New Roman" pitchFamily="18" charset="0"/>
                <a:cs typeface="Times New Roman" pitchFamily="18" charset="0"/>
              </a:rPr>
              <a:t>System Architecture</a:t>
            </a:r>
            <a:endParaRPr lang="en-IN" sz="2200" spc="-10" dirty="0">
              <a:latin typeface="Times New Roman" pitchFamily="18" charset="0"/>
              <a:cs typeface="Times New Roman" pitchFamily="18" charset="0"/>
            </a:endParaRPr>
          </a:p>
          <a:p>
            <a:pPr marL="194310" indent="-181610" algn="just">
              <a:spcBef>
                <a:spcPts val="100"/>
              </a:spcBef>
              <a:buFont typeface="Arial MT"/>
              <a:buChar char="•"/>
              <a:tabLst>
                <a:tab pos="194310" algn="l"/>
              </a:tabLst>
            </a:pPr>
            <a:r>
              <a:rPr lang="en-IN" sz="2200" dirty="0">
                <a:latin typeface="Times New Roman" pitchFamily="18" charset="0"/>
                <a:cs typeface="Times New Roman" pitchFamily="18" charset="0"/>
              </a:rPr>
              <a:t>Modules</a:t>
            </a:r>
          </a:p>
          <a:p>
            <a:pPr marL="194310" indent="-181610" algn="just">
              <a:spcBef>
                <a:spcPts val="100"/>
              </a:spcBef>
              <a:buFont typeface="Arial MT"/>
              <a:buChar char="•"/>
              <a:tabLst>
                <a:tab pos="194310" algn="l"/>
              </a:tabLst>
            </a:pPr>
            <a:r>
              <a:rPr lang="en-US" sz="2200" spc="-10" dirty="0">
                <a:latin typeface="Times New Roman" pitchFamily="18" charset="0"/>
                <a:cs typeface="Times New Roman" pitchFamily="18" charset="0"/>
              </a:rPr>
              <a:t>I</a:t>
            </a:r>
            <a:r>
              <a:rPr lang="en-IN" sz="2200" spc="-10" dirty="0" err="1">
                <a:latin typeface="Times New Roman" pitchFamily="18" charset="0"/>
                <a:cs typeface="Times New Roman" pitchFamily="18" charset="0"/>
              </a:rPr>
              <a:t>mplementation</a:t>
            </a:r>
            <a:endParaRPr lang="en-IN" sz="2200" spc="-10" dirty="0">
              <a:latin typeface="Times New Roman" pitchFamily="18" charset="0"/>
              <a:cs typeface="Times New Roman" pitchFamily="18" charset="0"/>
            </a:endParaRPr>
          </a:p>
          <a:p>
            <a:pPr marL="194310" indent="-181610" algn="just">
              <a:spcBef>
                <a:spcPts val="100"/>
              </a:spcBef>
              <a:buFont typeface="Arial MT"/>
              <a:buChar char="•"/>
              <a:tabLst>
                <a:tab pos="194310" algn="l"/>
              </a:tabLst>
            </a:pPr>
            <a:r>
              <a:rPr lang="en-US" sz="2200" spc="-10" dirty="0">
                <a:latin typeface="Times New Roman" pitchFamily="18" charset="0"/>
                <a:cs typeface="Times New Roman" pitchFamily="18" charset="0"/>
              </a:rPr>
              <a:t>R</a:t>
            </a:r>
            <a:r>
              <a:rPr lang="en-IN" sz="2200" spc="-10" dirty="0" err="1">
                <a:latin typeface="Times New Roman" pitchFamily="18" charset="0"/>
                <a:cs typeface="Times New Roman" pitchFamily="18" charset="0"/>
              </a:rPr>
              <a:t>esults</a:t>
            </a:r>
            <a:r>
              <a:rPr lang="en-IN" sz="2200" spc="-10" dirty="0">
                <a:latin typeface="Times New Roman" pitchFamily="18" charset="0"/>
                <a:cs typeface="Times New Roman" pitchFamily="18" charset="0"/>
              </a:rPr>
              <a:t> &amp; Discussion</a:t>
            </a:r>
          </a:p>
          <a:p>
            <a:pPr marL="194310" indent="-181610" algn="just">
              <a:spcBef>
                <a:spcPts val="100"/>
              </a:spcBef>
              <a:buFont typeface="Arial MT"/>
              <a:buChar char="•"/>
              <a:tabLst>
                <a:tab pos="194310" algn="l"/>
              </a:tabLst>
            </a:pPr>
            <a:r>
              <a:rPr lang="en-IN" sz="2200" spc="-10" dirty="0">
                <a:latin typeface="Times New Roman" pitchFamily="18" charset="0"/>
                <a:cs typeface="Times New Roman" pitchFamily="18" charset="0"/>
              </a:rPr>
              <a:t>Conclusion</a:t>
            </a:r>
          </a:p>
          <a:p>
            <a:pPr marL="194310" indent="-181610" algn="just">
              <a:spcBef>
                <a:spcPts val="100"/>
              </a:spcBef>
              <a:buFont typeface="Arial MT"/>
              <a:buChar char="•"/>
              <a:tabLst>
                <a:tab pos="194310" algn="l"/>
              </a:tabLst>
            </a:pPr>
            <a:r>
              <a:rPr lang="en-IN" sz="2200" spc="-10" dirty="0">
                <a:latin typeface="Times New Roman" pitchFamily="18" charset="0"/>
                <a:cs typeface="Times New Roman" pitchFamily="18" charset="0"/>
              </a:rPr>
              <a:t>Future Enhancements</a:t>
            </a:r>
          </a:p>
          <a:p>
            <a:pPr marL="194310" indent="-181610" algn="just">
              <a:spcBef>
                <a:spcPts val="100"/>
              </a:spcBef>
              <a:buFont typeface="Arial MT"/>
              <a:buChar char="•"/>
              <a:tabLst>
                <a:tab pos="194310" algn="l"/>
              </a:tabLst>
            </a:pPr>
            <a:r>
              <a:rPr lang="en-IN" sz="2200" spc="-10" dirty="0">
                <a:latin typeface="Times New Roman" pitchFamily="18" charset="0"/>
                <a:cs typeface="Times New Roman" pitchFamily="18" charset="0"/>
              </a:rPr>
              <a:t>References</a:t>
            </a:r>
          </a:p>
        </p:txBody>
      </p:sp>
      <p:pic>
        <p:nvPicPr>
          <p:cNvPr id="4" name="object 4"/>
          <p:cNvPicPr/>
          <p:nvPr/>
        </p:nvPicPr>
        <p:blipFill>
          <a:blip r:embed="rId2" cstate="print"/>
          <a:stretch>
            <a:fillRect/>
          </a:stretch>
        </p:blipFill>
        <p:spPr>
          <a:xfrm>
            <a:off x="2916237" y="52387"/>
            <a:ext cx="5313362" cy="544511"/>
          </a:xfrm>
          <a:prstGeom prst="rect">
            <a:avLst/>
          </a:prstGeom>
        </p:spPr>
      </p:pic>
      <p:sp>
        <p:nvSpPr>
          <p:cNvPr id="6" name="object 6"/>
          <p:cNvSpPr txBox="1">
            <a:spLocks noGrp="1"/>
          </p:cNvSpPr>
          <p:nvPr>
            <p:ph type="dt" sz="half" idx="6"/>
          </p:nvPr>
        </p:nvSpPr>
        <p:spPr>
          <a:prstGeom prst="rect">
            <a:avLst/>
          </a:prstGeom>
        </p:spPr>
        <p:txBody>
          <a:bodyPr vert="horz" wrap="square" lIns="0" tIns="0" rIns="0" bIns="0" rtlCol="0">
            <a:spAutoFit/>
          </a:bodyPr>
          <a:lstStyle/>
          <a:p>
            <a:pPr marL="12700">
              <a:lnSpc>
                <a:spcPts val="1240"/>
              </a:lnSpc>
            </a:pPr>
            <a:r>
              <a:rPr spc="-10" dirty="0"/>
              <a:t>CAPSTONE</a:t>
            </a:r>
            <a:r>
              <a:rPr spc="-50" dirty="0"/>
              <a:t> </a:t>
            </a:r>
            <a:r>
              <a:rPr spc="-10" dirty="0"/>
              <a:t>PROJECT</a:t>
            </a: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2</a:t>
            </a:fld>
            <a:endParaRPr spc="-25" dirty="0"/>
          </a:p>
        </p:txBody>
      </p:sp>
      <p:sp>
        <p:nvSpPr>
          <p:cNvPr id="8" name="Title 7">
            <a:extLst>
              <a:ext uri="{FF2B5EF4-FFF2-40B4-BE49-F238E27FC236}">
                <a16:creationId xmlns:a16="http://schemas.microsoft.com/office/drawing/2014/main" id="{AF4494E0-3219-417A-972D-D584E0511DBC}"/>
              </a:ext>
            </a:extLst>
          </p:cNvPr>
          <p:cNvSpPr>
            <a:spLocks noGrp="1"/>
          </p:cNvSpPr>
          <p:nvPr>
            <p:ph type="title"/>
          </p:nvPr>
        </p:nvSpPr>
        <p:spPr>
          <a:xfrm>
            <a:off x="685800" y="781570"/>
            <a:ext cx="10374945" cy="492443"/>
          </a:xfrm>
        </p:spPr>
        <p:txBody>
          <a:bodyPr/>
          <a:lstStyle/>
          <a:p>
            <a:r>
              <a:rPr lang="en-US" sz="3200" b="1" dirty="0"/>
              <a:t>Agenda</a:t>
            </a:r>
            <a:endParaRPr lang="en-IN" sz="3200" b="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bject 4"/>
          <p:cNvPicPr/>
          <p:nvPr/>
        </p:nvPicPr>
        <p:blipFill>
          <a:blip r:embed="rId2" cstate="print"/>
          <a:stretch>
            <a:fillRect/>
          </a:stretch>
        </p:blipFill>
        <p:spPr>
          <a:xfrm>
            <a:off x="2924175" y="52387"/>
            <a:ext cx="5313361" cy="544511"/>
          </a:xfrm>
          <a:prstGeom prst="rect">
            <a:avLst/>
          </a:prstGeom>
        </p:spPr>
      </p:pic>
      <p:sp>
        <p:nvSpPr>
          <p:cNvPr id="6" name="object 6"/>
          <p:cNvSpPr txBox="1">
            <a:spLocks noGrp="1"/>
          </p:cNvSpPr>
          <p:nvPr>
            <p:ph type="dt" sz="half" idx="6"/>
          </p:nvPr>
        </p:nvSpPr>
        <p:spPr>
          <a:prstGeom prst="rect">
            <a:avLst/>
          </a:prstGeom>
        </p:spPr>
        <p:txBody>
          <a:bodyPr vert="horz" wrap="square" lIns="0" tIns="0" rIns="0" bIns="0" rtlCol="0">
            <a:spAutoFit/>
          </a:bodyPr>
          <a:lstStyle/>
          <a:p>
            <a:pPr marL="12700">
              <a:lnSpc>
                <a:spcPts val="1240"/>
              </a:lnSpc>
            </a:pPr>
            <a:r>
              <a:rPr spc="-10" dirty="0"/>
              <a:t>CAPSTONE</a:t>
            </a:r>
            <a:r>
              <a:rPr spc="-50" dirty="0"/>
              <a:t> </a:t>
            </a:r>
            <a:r>
              <a:rPr spc="-10" dirty="0"/>
              <a:t>PROJECT</a:t>
            </a: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3</a:t>
            </a:fld>
            <a:endParaRPr spc="-25" dirty="0"/>
          </a:p>
        </p:txBody>
      </p:sp>
      <p:sp>
        <p:nvSpPr>
          <p:cNvPr id="5" name="Rectangle 1">
            <a:extLst>
              <a:ext uri="{FF2B5EF4-FFF2-40B4-BE49-F238E27FC236}">
                <a16:creationId xmlns:a16="http://schemas.microsoft.com/office/drawing/2014/main" id="{F91AAA88-BADC-4191-8D13-2D6A3EAB784A}"/>
              </a:ext>
            </a:extLst>
          </p:cNvPr>
          <p:cNvSpPr>
            <a:spLocks noChangeArrowheads="1"/>
          </p:cNvSpPr>
          <p:nvPr/>
        </p:nvSpPr>
        <p:spPr bwMode="auto">
          <a:xfrm>
            <a:off x="533400" y="1647284"/>
            <a:ext cx="10896600" cy="46130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lnSpc>
                <a:spcPct val="150000"/>
              </a:lnSpc>
            </a:pPr>
            <a:r>
              <a:rPr lang="en-US" dirty="0">
                <a:latin typeface="Times New Roman" panose="02020603050405020304" pitchFamily="18" charset="0"/>
                <a:cs typeface="Times New Roman" panose="02020603050405020304" pitchFamily="18" charset="0"/>
              </a:rPr>
              <a:t>The Intelligent Intrusion Detection System Using Face Recognition and Cryptographic Security is a smart security system developed to automatically detect unauthorized persons and securely manage intrusion evidence. Traditional CCTV systems mainly record activities and depend on continuous human monitoring, which may delay the detection and response to security incidents.</a:t>
            </a:r>
          </a:p>
          <a:p>
            <a:pPr algn="just">
              <a:lnSpc>
                <a:spcPct val="150000"/>
              </a:lnSpc>
            </a:pPr>
            <a:r>
              <a:rPr lang="en-US" dirty="0">
                <a:latin typeface="Times New Roman" panose="02020603050405020304" pitchFamily="18" charset="0"/>
                <a:cs typeface="Times New Roman" panose="02020603050405020304" pitchFamily="18" charset="0"/>
              </a:rPr>
              <a:t>The proposed system uses three modules. Module 1 performs camera monitoring, motion detection, face detection, and face recognition to classify people as authorized or unknown. Module 2 protects the captured intruder image using AES-256 encryption and uses RSA for secure key protection or management. Module 3 maintains secure event logs using SHA-256 and generates HMAC-authenticated alerts before sending notifications to the owner.</a:t>
            </a:r>
          </a:p>
          <a:p>
            <a:pPr algn="just">
              <a:lnSpc>
                <a:spcPct val="150000"/>
              </a:lnSpc>
            </a:pPr>
            <a:r>
              <a:rPr lang="en-US" dirty="0">
                <a:latin typeface="Times New Roman" panose="02020603050405020304" pitchFamily="18" charset="0"/>
                <a:cs typeface="Times New Roman" panose="02020603050405020304" pitchFamily="18" charset="0"/>
              </a:rPr>
              <a:t>Overall, the system combines Artificial Intelligence, Computer Vision, and Cryptographic Security to provide automated intrusion detection, secure evidence storage, tamper detection, and real-time alert notification.</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endParaRPr kumimoji="0" lang="en-US" altLang="en-US"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9" name="Title 8">
            <a:extLst>
              <a:ext uri="{FF2B5EF4-FFF2-40B4-BE49-F238E27FC236}">
                <a16:creationId xmlns:a16="http://schemas.microsoft.com/office/drawing/2014/main" id="{C4A2965D-4542-411C-9E6D-C2F019EE95B0}"/>
              </a:ext>
            </a:extLst>
          </p:cNvPr>
          <p:cNvSpPr>
            <a:spLocks noGrp="1"/>
          </p:cNvSpPr>
          <p:nvPr>
            <p:ph type="title"/>
          </p:nvPr>
        </p:nvSpPr>
        <p:spPr>
          <a:xfrm>
            <a:off x="706352" y="948407"/>
            <a:ext cx="10374945" cy="492443"/>
          </a:xfrm>
        </p:spPr>
        <p:txBody>
          <a:bodyPr/>
          <a:lstStyle/>
          <a:p>
            <a:r>
              <a:rPr lang="en-US" sz="3200" b="1" dirty="0"/>
              <a:t>Abstract</a:t>
            </a:r>
            <a:endParaRPr lang="en-IN" sz="3200" b="1" dirty="0"/>
          </a:p>
        </p:txBody>
      </p:sp>
    </p:spTree>
    <p:extLst>
      <p:ext uri="{BB962C8B-B14F-4D97-AF65-F5344CB8AC3E}">
        <p14:creationId xmlns:p14="http://schemas.microsoft.com/office/powerpoint/2010/main" val="18513143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object 4"/>
          <p:cNvPicPr/>
          <p:nvPr/>
        </p:nvPicPr>
        <p:blipFill>
          <a:blip r:embed="rId2" cstate="print"/>
          <a:stretch>
            <a:fillRect/>
          </a:stretch>
        </p:blipFill>
        <p:spPr>
          <a:xfrm>
            <a:off x="2924175" y="52387"/>
            <a:ext cx="5313361" cy="544511"/>
          </a:xfrm>
          <a:prstGeom prst="rect">
            <a:avLst/>
          </a:prstGeom>
        </p:spPr>
      </p:pic>
      <p:sp>
        <p:nvSpPr>
          <p:cNvPr id="6" name="object 6"/>
          <p:cNvSpPr txBox="1">
            <a:spLocks noGrp="1"/>
          </p:cNvSpPr>
          <p:nvPr>
            <p:ph type="dt" sz="half" idx="6"/>
          </p:nvPr>
        </p:nvSpPr>
        <p:spPr>
          <a:prstGeom prst="rect">
            <a:avLst/>
          </a:prstGeom>
        </p:spPr>
        <p:txBody>
          <a:bodyPr vert="horz" wrap="square" lIns="0" tIns="0" rIns="0" bIns="0" rtlCol="0">
            <a:spAutoFit/>
          </a:bodyPr>
          <a:lstStyle/>
          <a:p>
            <a:pPr marL="12700">
              <a:lnSpc>
                <a:spcPts val="1240"/>
              </a:lnSpc>
            </a:pPr>
            <a:r>
              <a:rPr spc="-10" dirty="0"/>
              <a:t>CAPSTONE</a:t>
            </a:r>
            <a:r>
              <a:rPr spc="-50" dirty="0"/>
              <a:t> </a:t>
            </a:r>
            <a:r>
              <a:rPr spc="-10" dirty="0"/>
              <a:t>PROJECT</a:t>
            </a: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4</a:t>
            </a:fld>
            <a:endParaRPr spc="-25" dirty="0"/>
          </a:p>
        </p:txBody>
      </p:sp>
      <p:sp>
        <p:nvSpPr>
          <p:cNvPr id="5" name="Rectangle 1">
            <a:extLst>
              <a:ext uri="{FF2B5EF4-FFF2-40B4-BE49-F238E27FC236}">
                <a16:creationId xmlns:a16="http://schemas.microsoft.com/office/drawing/2014/main" id="{F91AAA88-BADC-4191-8D13-2D6A3EAB784A}"/>
              </a:ext>
            </a:extLst>
          </p:cNvPr>
          <p:cNvSpPr>
            <a:spLocks noChangeArrowheads="1"/>
          </p:cNvSpPr>
          <p:nvPr/>
        </p:nvSpPr>
        <p:spPr bwMode="auto">
          <a:xfrm>
            <a:off x="533400" y="1716749"/>
            <a:ext cx="11658599" cy="41975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Security has become an important requirement for homes, offices, industries, banks, and educational institutions. </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Traditional CCTV systems only record videos and require continuous human monitoring. </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Existing surveillance systems cannot automatically identify authorized and unauthorized persons. </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Captured images and security data are vulnerable to unauthorized access and tampering. </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There is a need for an intelligent system that can detect intrusions, recognize faces, and securely protect surveillance data. </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proposed system continuously monitors the area using a camera and detects motion in real time. </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performs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face recognition</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by comparing detected faces with a database of authorized users. </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If an unknown person is detected, the system captures the intruder's image as evidence. </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captured image is protected using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AES-256 encryption</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while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RSA</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secures the encryption key. </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Event logs are secured using </a:t>
            </a:r>
            <a:r>
              <a:rPr kumimoji="0" lang="en-US" altLang="en-US"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SHA-256 hashing</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ensure data integrity and detect any unauthorized modifications. </a:t>
            </a:r>
          </a:p>
        </p:txBody>
      </p:sp>
      <p:sp>
        <p:nvSpPr>
          <p:cNvPr id="9" name="Title 8">
            <a:extLst>
              <a:ext uri="{FF2B5EF4-FFF2-40B4-BE49-F238E27FC236}">
                <a16:creationId xmlns:a16="http://schemas.microsoft.com/office/drawing/2014/main" id="{C4A2965D-4542-411C-9E6D-C2F019EE95B0}"/>
              </a:ext>
            </a:extLst>
          </p:cNvPr>
          <p:cNvSpPr>
            <a:spLocks noGrp="1"/>
          </p:cNvSpPr>
          <p:nvPr>
            <p:ph type="title"/>
          </p:nvPr>
        </p:nvSpPr>
        <p:spPr>
          <a:xfrm>
            <a:off x="706352" y="948407"/>
            <a:ext cx="10374945" cy="492443"/>
          </a:xfrm>
        </p:spPr>
        <p:txBody>
          <a:bodyPr/>
          <a:lstStyle/>
          <a:p>
            <a:r>
              <a:rPr lang="en-US" sz="3200" b="1" dirty="0"/>
              <a:t>Introduction</a:t>
            </a:r>
            <a:endParaRPr lang="en-IN" sz="3200" b="1"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457200" y="773205"/>
            <a:ext cx="3439510" cy="505267"/>
          </a:xfrm>
          <a:prstGeom prst="rect">
            <a:avLst/>
          </a:prstGeom>
        </p:spPr>
        <p:txBody>
          <a:bodyPr vert="horz" wrap="square" lIns="0" tIns="12700" rIns="0" bIns="0" rtlCol="0">
            <a:spAutoFit/>
          </a:bodyPr>
          <a:lstStyle/>
          <a:p>
            <a:pPr marL="12700">
              <a:lnSpc>
                <a:spcPct val="100000"/>
              </a:lnSpc>
              <a:spcBef>
                <a:spcPts val="100"/>
              </a:spcBef>
            </a:pPr>
            <a:r>
              <a:rPr lang="en-IN" sz="3200" b="1" spc="-30" dirty="0"/>
              <a:t>Literature</a:t>
            </a:r>
            <a:r>
              <a:rPr lang="en-IN" sz="3200" b="1" spc="-190" dirty="0"/>
              <a:t> </a:t>
            </a:r>
            <a:r>
              <a:rPr lang="en-IN" sz="3200" b="1" spc="-10" dirty="0"/>
              <a:t>Review</a:t>
            </a:r>
            <a:endParaRPr lang="en-IN" sz="3200" b="1" dirty="0"/>
          </a:p>
        </p:txBody>
      </p:sp>
      <p:pic>
        <p:nvPicPr>
          <p:cNvPr id="3" name="object 3"/>
          <p:cNvPicPr/>
          <p:nvPr/>
        </p:nvPicPr>
        <p:blipFill>
          <a:blip r:embed="rId2" cstate="print"/>
          <a:stretch>
            <a:fillRect/>
          </a:stretch>
        </p:blipFill>
        <p:spPr>
          <a:xfrm>
            <a:off x="2976562" y="52387"/>
            <a:ext cx="5313362" cy="544511"/>
          </a:xfrm>
          <a:prstGeom prst="rect">
            <a:avLst/>
          </a:prstGeom>
        </p:spPr>
      </p:pic>
      <p:sp>
        <p:nvSpPr>
          <p:cNvPr id="6" name="object 6"/>
          <p:cNvSpPr txBox="1">
            <a:spLocks noGrp="1"/>
          </p:cNvSpPr>
          <p:nvPr>
            <p:ph type="dt" sz="half" idx="6"/>
          </p:nvPr>
        </p:nvSpPr>
        <p:spPr>
          <a:prstGeom prst="rect">
            <a:avLst/>
          </a:prstGeom>
        </p:spPr>
        <p:txBody>
          <a:bodyPr vert="horz" wrap="square" lIns="0" tIns="0" rIns="0" bIns="0" rtlCol="0">
            <a:spAutoFit/>
          </a:bodyPr>
          <a:lstStyle/>
          <a:p>
            <a:pPr marL="12700">
              <a:lnSpc>
                <a:spcPts val="1240"/>
              </a:lnSpc>
            </a:pPr>
            <a:r>
              <a:rPr spc="-10" dirty="0"/>
              <a:t>CAPSTONE</a:t>
            </a:r>
            <a:r>
              <a:rPr spc="-50" dirty="0"/>
              <a:t> </a:t>
            </a:r>
            <a:r>
              <a:rPr spc="-10" dirty="0"/>
              <a:t>PROJECT</a:t>
            </a: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5</a:t>
            </a:fld>
            <a:endParaRPr spc="-25" dirty="0"/>
          </a:p>
        </p:txBody>
      </p:sp>
      <p:graphicFrame>
        <p:nvGraphicFramePr>
          <p:cNvPr id="8" name="Table 7"/>
          <p:cNvGraphicFramePr>
            <a:graphicFrameLocks noGrp="1"/>
          </p:cNvGraphicFramePr>
          <p:nvPr>
            <p:extLst>
              <p:ext uri="{D42A27DB-BD31-4B8C-83A1-F6EECF244321}">
                <p14:modId xmlns:p14="http://schemas.microsoft.com/office/powerpoint/2010/main" val="1560714907"/>
              </p:ext>
            </p:extLst>
          </p:nvPr>
        </p:nvGraphicFramePr>
        <p:xfrm>
          <a:off x="0" y="1424299"/>
          <a:ext cx="12192000" cy="5433701"/>
        </p:xfrm>
        <a:graphic>
          <a:graphicData uri="http://schemas.openxmlformats.org/drawingml/2006/table">
            <a:tbl>
              <a:tblPr>
                <a:tableStyleId>{08FB837D-C827-4EFA-A057-4D05807E0F7C}</a:tableStyleId>
              </a:tblPr>
              <a:tblGrid>
                <a:gridCol w="711941">
                  <a:extLst>
                    <a:ext uri="{9D8B030D-6E8A-4147-A177-3AD203B41FA5}">
                      <a16:colId xmlns:a16="http://schemas.microsoft.com/office/drawing/2014/main" val="20000"/>
                    </a:ext>
                  </a:extLst>
                </a:gridCol>
                <a:gridCol w="3025752">
                  <a:extLst>
                    <a:ext uri="{9D8B030D-6E8A-4147-A177-3AD203B41FA5}">
                      <a16:colId xmlns:a16="http://schemas.microsoft.com/office/drawing/2014/main" val="20001"/>
                    </a:ext>
                  </a:extLst>
                </a:gridCol>
                <a:gridCol w="2046832">
                  <a:extLst>
                    <a:ext uri="{9D8B030D-6E8A-4147-A177-3AD203B41FA5}">
                      <a16:colId xmlns:a16="http://schemas.microsoft.com/office/drawing/2014/main" val="20002"/>
                    </a:ext>
                  </a:extLst>
                </a:gridCol>
                <a:gridCol w="3114745">
                  <a:extLst>
                    <a:ext uri="{9D8B030D-6E8A-4147-A177-3AD203B41FA5}">
                      <a16:colId xmlns:a16="http://schemas.microsoft.com/office/drawing/2014/main" val="20003"/>
                    </a:ext>
                  </a:extLst>
                </a:gridCol>
                <a:gridCol w="3292730">
                  <a:extLst>
                    <a:ext uri="{9D8B030D-6E8A-4147-A177-3AD203B41FA5}">
                      <a16:colId xmlns:a16="http://schemas.microsoft.com/office/drawing/2014/main" val="20004"/>
                    </a:ext>
                  </a:extLst>
                </a:gridCol>
              </a:tblGrid>
              <a:tr h="617632">
                <a:tc>
                  <a:txBody>
                    <a:bodyPr/>
                    <a:lstStyle/>
                    <a:p>
                      <a:r>
                        <a:rPr lang="en-IN" b="1" dirty="0">
                          <a:latin typeface="Times New Roman" panose="02020603050405020304" pitchFamily="18" charset="0"/>
                          <a:cs typeface="Times New Roman" panose="02020603050405020304" pitchFamily="18" charset="0"/>
                        </a:rPr>
                        <a:t>S.No</a:t>
                      </a:r>
                    </a:p>
                  </a:txBody>
                  <a:tcPr marL="55143" marR="55143" marT="27571" marB="27571" anchor="ctr"/>
                </a:tc>
                <a:tc>
                  <a:txBody>
                    <a:bodyPr/>
                    <a:lstStyle/>
                    <a:p>
                      <a:r>
                        <a:rPr lang="en-US" b="1" dirty="0">
                          <a:latin typeface="Times New Roman" panose="02020603050405020304" pitchFamily="18" charset="0"/>
                          <a:cs typeface="Times New Roman" panose="02020603050405020304" pitchFamily="18" charset="0"/>
                        </a:rPr>
                        <a:t>Details of the Journal / Reference</a:t>
                      </a:r>
                    </a:p>
                  </a:txBody>
                  <a:tcPr marL="55143" marR="55143" marT="27571" marB="27571" anchor="ctr"/>
                </a:tc>
                <a:tc>
                  <a:txBody>
                    <a:bodyPr/>
                    <a:lstStyle/>
                    <a:p>
                      <a:r>
                        <a:rPr lang="en-IN" b="1" dirty="0">
                          <a:latin typeface="Times New Roman" panose="02020603050405020304" pitchFamily="18" charset="0"/>
                          <a:cs typeface="Times New Roman" panose="02020603050405020304" pitchFamily="18" charset="0"/>
                        </a:rPr>
                        <a:t>Algorithm / Methodology Used</a:t>
                      </a:r>
                    </a:p>
                  </a:txBody>
                  <a:tcPr marL="55143" marR="55143" marT="27571" marB="27571" anchor="ctr"/>
                </a:tc>
                <a:tc>
                  <a:txBody>
                    <a:bodyPr/>
                    <a:lstStyle/>
                    <a:p>
                      <a:r>
                        <a:rPr lang="en-IN" b="1" dirty="0">
                          <a:latin typeface="Times New Roman" panose="02020603050405020304" pitchFamily="18" charset="0"/>
                          <a:cs typeface="Times New Roman" panose="02020603050405020304" pitchFamily="18" charset="0"/>
                        </a:rPr>
                        <a:t>Advantages</a:t>
                      </a:r>
                    </a:p>
                  </a:txBody>
                  <a:tcPr marL="55143" marR="55143" marT="27571" marB="27571" anchor="ctr"/>
                </a:tc>
                <a:tc>
                  <a:txBody>
                    <a:bodyPr/>
                    <a:lstStyle/>
                    <a:p>
                      <a:r>
                        <a:rPr lang="en-IN" b="1" dirty="0">
                          <a:latin typeface="Times New Roman" panose="02020603050405020304" pitchFamily="18" charset="0"/>
                          <a:cs typeface="Times New Roman" panose="02020603050405020304" pitchFamily="18" charset="0"/>
                        </a:rPr>
                        <a:t>Disadvantages</a:t>
                      </a:r>
                    </a:p>
                  </a:txBody>
                  <a:tcPr marL="55143" marR="55143" marT="27571" marB="27571" anchor="ctr"/>
                </a:tc>
                <a:extLst>
                  <a:ext uri="{0D108BD9-81ED-4DB2-BD59-A6C34878D82A}">
                    <a16:rowId xmlns:a16="http://schemas.microsoft.com/office/drawing/2014/main" val="10000"/>
                  </a:ext>
                </a:extLst>
              </a:tr>
              <a:tr h="1240969">
                <a:tc>
                  <a:txBody>
                    <a:bodyPr/>
                    <a:lstStyle/>
                    <a:p>
                      <a:r>
                        <a:rPr lang="en-IN" dirty="0">
                          <a:latin typeface="Times New Roman" panose="02020603050405020304" pitchFamily="18" charset="0"/>
                          <a:cs typeface="Times New Roman" panose="02020603050405020304" pitchFamily="18" charset="0"/>
                        </a:rPr>
                        <a:t>1</a:t>
                      </a:r>
                    </a:p>
                  </a:txBody>
                  <a:tcPr marL="55143" marR="55143" marT="27571" marB="27571" anchor="ctr"/>
                </a:tc>
                <a:tc>
                  <a:txBody>
                    <a:bodyPr/>
                    <a:lstStyle/>
                    <a:p>
                      <a:r>
                        <a:rPr lang="en-US" dirty="0">
                          <a:latin typeface="Times New Roman" panose="02020603050405020304" pitchFamily="18" charset="0"/>
                          <a:cs typeface="Times New Roman" panose="02020603050405020304" pitchFamily="18" charset="0"/>
                        </a:rPr>
                        <a:t>Viola &amp; Jones (2026) – Rapid Object Detection Using a Boosted Cascade of Simple Features</a:t>
                      </a:r>
                    </a:p>
                  </a:txBody>
                  <a:tcPr marL="55143" marR="55143" marT="27571" marB="27571" anchor="ctr"/>
                </a:tc>
                <a:tc>
                  <a:txBody>
                    <a:bodyPr/>
                    <a:lstStyle/>
                    <a:p>
                      <a:r>
                        <a:rPr lang="en-IN" dirty="0">
                          <a:latin typeface="Times New Roman" panose="02020603050405020304" pitchFamily="18" charset="0"/>
                          <a:cs typeface="Times New Roman" panose="02020603050405020304" pitchFamily="18" charset="0"/>
                        </a:rPr>
                        <a:t>Haar Cascade Face Detection</a:t>
                      </a:r>
                    </a:p>
                  </a:txBody>
                  <a:tcPr marL="55143" marR="55143" marT="27571" marB="27571" anchor="ctr"/>
                </a:tc>
                <a:tc>
                  <a:txBody>
                    <a:bodyPr/>
                    <a:lstStyle/>
                    <a:p>
                      <a:r>
                        <a:rPr lang="en-US" dirty="0">
                          <a:latin typeface="Times New Roman" panose="02020603050405020304" pitchFamily="18" charset="0"/>
                          <a:cs typeface="Times New Roman" panose="02020603050405020304" pitchFamily="18" charset="0"/>
                        </a:rPr>
                        <a:t>Fast, works in real time</a:t>
                      </a:r>
                    </a:p>
                  </a:txBody>
                  <a:tcPr marL="55143" marR="55143" marT="27571" marB="27571" anchor="ctr"/>
                </a:tc>
                <a:tc>
                  <a:txBody>
                    <a:bodyPr/>
                    <a:lstStyle/>
                    <a:p>
                      <a:r>
                        <a:rPr lang="en-US" dirty="0">
                          <a:latin typeface="Times New Roman" panose="02020603050405020304" pitchFamily="18" charset="0"/>
                          <a:cs typeface="Times New Roman" panose="02020603050405020304" pitchFamily="18" charset="0"/>
                        </a:rPr>
                        <a:t>Struggles in poor lighting</a:t>
                      </a:r>
                    </a:p>
                  </a:txBody>
                  <a:tcPr marL="55143" marR="55143" marT="27571" marB="27571" anchor="ctr"/>
                </a:tc>
                <a:extLst>
                  <a:ext uri="{0D108BD9-81ED-4DB2-BD59-A6C34878D82A}">
                    <a16:rowId xmlns:a16="http://schemas.microsoft.com/office/drawing/2014/main" val="10001"/>
                  </a:ext>
                </a:extLst>
              </a:tr>
              <a:tr h="902523">
                <a:tc>
                  <a:txBody>
                    <a:bodyPr/>
                    <a:lstStyle/>
                    <a:p>
                      <a:r>
                        <a:rPr lang="en-IN" dirty="0">
                          <a:latin typeface="Times New Roman" panose="02020603050405020304" pitchFamily="18" charset="0"/>
                          <a:cs typeface="Times New Roman" panose="02020603050405020304" pitchFamily="18" charset="0"/>
                        </a:rPr>
                        <a:t>2</a:t>
                      </a:r>
                    </a:p>
                  </a:txBody>
                  <a:tcPr marL="55143" marR="55143" marT="27571" marB="27571" anchor="ctr"/>
                </a:tc>
                <a:tc>
                  <a:txBody>
                    <a:bodyPr/>
                    <a:lstStyle/>
                    <a:p>
                      <a:r>
                        <a:rPr lang="en-US" dirty="0">
                          <a:latin typeface="Times New Roman" panose="02020603050405020304" pitchFamily="18" charset="0"/>
                          <a:cs typeface="Times New Roman" panose="02020603050405020304" pitchFamily="18" charset="0"/>
                        </a:rPr>
                        <a:t>King, D. E. (2026) – Dlib-ml: A Machine Learning Toolkit</a:t>
                      </a:r>
                    </a:p>
                  </a:txBody>
                  <a:tcPr marL="55143" marR="55143" marT="27571" marB="27571" anchor="ctr"/>
                </a:tc>
                <a:tc>
                  <a:txBody>
                    <a:bodyPr/>
                    <a:lstStyle/>
                    <a:p>
                      <a:r>
                        <a:rPr lang="en-IN" dirty="0">
                          <a:latin typeface="Times New Roman" panose="02020603050405020304" pitchFamily="18" charset="0"/>
                          <a:cs typeface="Times New Roman" panose="02020603050405020304" pitchFamily="18" charset="0"/>
                        </a:rPr>
                        <a:t>Face Recognition (128-d Encoding)</a:t>
                      </a:r>
                    </a:p>
                  </a:txBody>
                  <a:tcPr marL="55143" marR="55143" marT="27571" marB="27571" anchor="ctr"/>
                </a:tc>
                <a:tc>
                  <a:txBody>
                    <a:bodyPr/>
                    <a:lstStyle/>
                    <a:p>
                      <a:r>
                        <a:rPr lang="en-US" dirty="0">
                          <a:latin typeface="Times New Roman" panose="02020603050405020304" pitchFamily="18" charset="0"/>
                          <a:cs typeface="Times New Roman" panose="02020603050405020304" pitchFamily="18" charset="0"/>
                        </a:rPr>
                        <a:t>High accuracy, needs only a few known photos</a:t>
                      </a:r>
                    </a:p>
                  </a:txBody>
                  <a:tcPr marL="55143" marR="55143" marT="27571" marB="27571" anchor="ctr"/>
                </a:tc>
                <a:tc>
                  <a:txBody>
                    <a:bodyPr/>
                    <a:lstStyle/>
                    <a:p>
                      <a:r>
                        <a:rPr lang="en-IN" dirty="0">
                          <a:latin typeface="Times New Roman" panose="02020603050405020304" pitchFamily="18" charset="0"/>
                          <a:cs typeface="Times New Roman" panose="02020603050405020304" pitchFamily="18" charset="0"/>
                        </a:rPr>
                        <a:t>Slower on low-power devices</a:t>
                      </a:r>
                    </a:p>
                  </a:txBody>
                  <a:tcPr marL="55143" marR="55143" marT="27571" marB="27571" anchor="ctr"/>
                </a:tc>
                <a:extLst>
                  <a:ext uri="{0D108BD9-81ED-4DB2-BD59-A6C34878D82A}">
                    <a16:rowId xmlns:a16="http://schemas.microsoft.com/office/drawing/2014/main" val="10002"/>
                  </a:ext>
                </a:extLst>
              </a:tr>
              <a:tr h="617632">
                <a:tc>
                  <a:txBody>
                    <a:bodyPr/>
                    <a:lstStyle/>
                    <a:p>
                      <a:r>
                        <a:rPr lang="en-IN" dirty="0">
                          <a:latin typeface="Times New Roman" panose="02020603050405020304" pitchFamily="18" charset="0"/>
                          <a:cs typeface="Times New Roman" panose="02020603050405020304" pitchFamily="18" charset="0"/>
                        </a:rPr>
                        <a:t>3</a:t>
                      </a:r>
                    </a:p>
                  </a:txBody>
                  <a:tcPr marL="55143" marR="55143" marT="27571" marB="27571" anchor="ctr"/>
                </a:tc>
                <a:tc>
                  <a:txBody>
                    <a:bodyPr/>
                    <a:lstStyle/>
                    <a:p>
                      <a:r>
                        <a:rPr lang="en-US" dirty="0">
                          <a:latin typeface="Times New Roman" panose="02020603050405020304" pitchFamily="18" charset="0"/>
                          <a:cs typeface="Times New Roman" panose="02020603050405020304" pitchFamily="18" charset="0"/>
                        </a:rPr>
                        <a:t>NIST FIPS 197 (2025) – Advanced Encryption Standard</a:t>
                      </a:r>
                    </a:p>
                  </a:txBody>
                  <a:tcPr marL="55143" marR="55143" marT="27571" marB="27571" anchor="ctr"/>
                </a:tc>
                <a:tc>
                  <a:txBody>
                    <a:bodyPr/>
                    <a:lstStyle/>
                    <a:p>
                      <a:r>
                        <a:rPr lang="en-IN" dirty="0">
                          <a:latin typeface="Times New Roman" panose="02020603050405020304" pitchFamily="18" charset="0"/>
                          <a:cs typeface="Times New Roman" panose="02020603050405020304" pitchFamily="18" charset="0"/>
                        </a:rPr>
                        <a:t>AES-256 Encryption</a:t>
                      </a:r>
                    </a:p>
                  </a:txBody>
                  <a:tcPr marL="55143" marR="55143" marT="27571" marB="27571" anchor="ctr"/>
                </a:tc>
                <a:tc>
                  <a:txBody>
                    <a:bodyPr/>
                    <a:lstStyle/>
                    <a:p>
                      <a:r>
                        <a:rPr lang="en-US" dirty="0">
                          <a:latin typeface="Times New Roman" panose="02020603050405020304" pitchFamily="18" charset="0"/>
                          <a:cs typeface="Times New Roman" panose="02020603050405020304" pitchFamily="18" charset="0"/>
                        </a:rPr>
                        <a:t>Fast, strong lock for saved photos</a:t>
                      </a:r>
                    </a:p>
                  </a:txBody>
                  <a:tcPr marL="55143" marR="55143" marT="27571" marB="27571" anchor="ctr"/>
                </a:tc>
                <a:tc>
                  <a:txBody>
                    <a:bodyPr/>
                    <a:lstStyle/>
                    <a:p>
                      <a:r>
                        <a:rPr lang="en-US" dirty="0">
                          <a:latin typeface="Times New Roman" panose="02020603050405020304" pitchFamily="18" charset="0"/>
                          <a:cs typeface="Times New Roman" panose="02020603050405020304" pitchFamily="18" charset="0"/>
                        </a:rPr>
                        <a:t>Needs safe key storage</a:t>
                      </a:r>
                    </a:p>
                  </a:txBody>
                  <a:tcPr marL="55143" marR="55143" marT="27571" marB="27571" anchor="ctr"/>
                </a:tc>
                <a:extLst>
                  <a:ext uri="{0D108BD9-81ED-4DB2-BD59-A6C34878D82A}">
                    <a16:rowId xmlns:a16="http://schemas.microsoft.com/office/drawing/2014/main" val="10003"/>
                  </a:ext>
                </a:extLst>
              </a:tr>
              <a:tr h="902523">
                <a:tc>
                  <a:txBody>
                    <a:bodyPr/>
                    <a:lstStyle/>
                    <a:p>
                      <a:r>
                        <a:rPr lang="en-IN" dirty="0">
                          <a:latin typeface="Times New Roman" panose="02020603050405020304" pitchFamily="18" charset="0"/>
                          <a:cs typeface="Times New Roman" panose="02020603050405020304" pitchFamily="18" charset="0"/>
                        </a:rPr>
                        <a:t>4</a:t>
                      </a:r>
                    </a:p>
                  </a:txBody>
                  <a:tcPr marL="55143" marR="55143" marT="27571" marB="27571" anchor="ctr"/>
                </a:tc>
                <a:tc>
                  <a:txBody>
                    <a:bodyPr/>
                    <a:lstStyle/>
                    <a:p>
                      <a:r>
                        <a:rPr lang="en-IN" dirty="0">
                          <a:latin typeface="Times New Roman" panose="02020603050405020304" pitchFamily="18" charset="0"/>
                          <a:cs typeface="Times New Roman" panose="02020603050405020304" pitchFamily="18" charset="0"/>
                        </a:rPr>
                        <a:t>NIST FIPS 180-4 (2025) – Secure Hash Standard</a:t>
                      </a:r>
                    </a:p>
                  </a:txBody>
                  <a:tcPr marL="55143" marR="55143" marT="27571" marB="27571" anchor="ctr"/>
                </a:tc>
                <a:tc>
                  <a:txBody>
                    <a:bodyPr/>
                    <a:lstStyle/>
                    <a:p>
                      <a:r>
                        <a:rPr lang="en-IN" dirty="0">
                          <a:latin typeface="Times New Roman" panose="02020603050405020304" pitchFamily="18" charset="0"/>
                          <a:cs typeface="Times New Roman" panose="02020603050405020304" pitchFamily="18" charset="0"/>
                        </a:rPr>
                        <a:t>SHA-256 Hashing</a:t>
                      </a:r>
                    </a:p>
                  </a:txBody>
                  <a:tcPr marL="55143" marR="55143" marT="27571" marB="27571" anchor="ctr"/>
                </a:tc>
                <a:tc>
                  <a:txBody>
                    <a:bodyPr/>
                    <a:lstStyle/>
                    <a:p>
                      <a:r>
                        <a:rPr lang="en-IN" dirty="0">
                          <a:latin typeface="Times New Roman" panose="02020603050405020304" pitchFamily="18" charset="0"/>
                          <a:cs typeface="Times New Roman" panose="02020603050405020304" pitchFamily="18" charset="0"/>
                        </a:rPr>
                        <a:t>Quick way to check if data changed</a:t>
                      </a:r>
                    </a:p>
                  </a:txBody>
                  <a:tcPr marL="55143" marR="55143" marT="27571" marB="27571" anchor="ctr"/>
                </a:tc>
                <a:tc>
                  <a:txBody>
                    <a:bodyPr/>
                    <a:lstStyle/>
                    <a:p>
                      <a:r>
                        <a:rPr lang="en-US" dirty="0">
                          <a:latin typeface="Times New Roman" panose="02020603050405020304" pitchFamily="18" charset="0"/>
                          <a:cs typeface="Times New Roman" panose="02020603050405020304" pitchFamily="18" charset="0"/>
                        </a:rPr>
                        <a:t>Hashing alone does not hide data</a:t>
                      </a:r>
                    </a:p>
                  </a:txBody>
                  <a:tcPr marL="55143" marR="55143" marT="27571" marB="27571" anchor="ctr"/>
                </a:tc>
                <a:extLst>
                  <a:ext uri="{0D108BD9-81ED-4DB2-BD59-A6C34878D82A}">
                    <a16:rowId xmlns:a16="http://schemas.microsoft.com/office/drawing/2014/main" val="10004"/>
                  </a:ext>
                </a:extLst>
              </a:tr>
              <a:tr h="1077472">
                <a:tc>
                  <a:txBody>
                    <a:bodyPr/>
                    <a:lstStyle/>
                    <a:p>
                      <a:r>
                        <a:rPr lang="en-IN" dirty="0">
                          <a:latin typeface="Times New Roman" panose="02020603050405020304" pitchFamily="18" charset="0"/>
                          <a:cs typeface="Times New Roman" panose="02020603050405020304" pitchFamily="18" charset="0"/>
                        </a:rPr>
                        <a:t>5</a:t>
                      </a:r>
                    </a:p>
                  </a:txBody>
                  <a:tcPr marL="55143" marR="55143" marT="27571" marB="27571" anchor="ctr"/>
                </a:tc>
                <a:tc>
                  <a:txBody>
                    <a:bodyPr/>
                    <a:lstStyle/>
                    <a:p>
                      <a:r>
                        <a:rPr lang="en-IN" dirty="0">
                          <a:latin typeface="Times New Roman" panose="02020603050405020304" pitchFamily="18" charset="0"/>
                          <a:cs typeface="Times New Roman" panose="02020603050405020304" pitchFamily="18" charset="0"/>
                        </a:rPr>
                        <a:t>Krawczyk, Bellare &amp; Canetti (2026) – HMAC: Keyed-Hashing for Message Authentication</a:t>
                      </a:r>
                    </a:p>
                  </a:txBody>
                  <a:tcPr marL="55143" marR="55143" marT="27571" marB="27571" anchor="ctr"/>
                </a:tc>
                <a:tc>
                  <a:txBody>
                    <a:bodyPr/>
                    <a:lstStyle/>
                    <a:p>
                      <a:r>
                        <a:rPr lang="en-IN" dirty="0">
                          <a:latin typeface="Times New Roman" panose="02020603050405020304" pitchFamily="18" charset="0"/>
                          <a:cs typeface="Times New Roman" panose="02020603050405020304" pitchFamily="18" charset="0"/>
                        </a:rPr>
                        <a:t>HMAC Signing</a:t>
                      </a:r>
                    </a:p>
                  </a:txBody>
                  <a:tcPr marL="55143" marR="55143" marT="27571" marB="27571" anchor="ctr"/>
                </a:tc>
                <a:tc>
                  <a:txBody>
                    <a:bodyPr/>
                    <a:lstStyle/>
                    <a:p>
                      <a:r>
                        <a:rPr lang="en-US" dirty="0">
                          <a:latin typeface="Times New Roman" panose="02020603050405020304" pitchFamily="18" charset="0"/>
                          <a:cs typeface="Times New Roman" panose="02020603050405020304" pitchFamily="18" charset="0"/>
                        </a:rPr>
                        <a:t>Proves a message is real and unchanged</a:t>
                      </a:r>
                    </a:p>
                  </a:txBody>
                  <a:tcPr marL="55143" marR="55143" marT="27571" marB="27571" anchor="ctr"/>
                </a:tc>
                <a:tc>
                  <a:txBody>
                    <a:bodyPr/>
                    <a:lstStyle/>
                    <a:p>
                      <a:r>
                        <a:rPr lang="en-US" dirty="0">
                          <a:latin typeface="Times New Roman" panose="02020603050405020304" pitchFamily="18" charset="0"/>
                          <a:cs typeface="Times New Roman" panose="02020603050405020304" pitchFamily="18" charset="0"/>
                        </a:rPr>
                        <a:t>Needs a shared secret key</a:t>
                      </a:r>
                    </a:p>
                  </a:txBody>
                  <a:tcPr marL="55143" marR="55143" marT="27571" marB="27571" anchor="ctr"/>
                </a:tc>
                <a:extLst>
                  <a:ext uri="{0D108BD9-81ED-4DB2-BD59-A6C34878D82A}">
                    <a16:rowId xmlns:a16="http://schemas.microsoft.com/office/drawing/2014/main" val="10005"/>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object 4"/>
          <p:cNvPicPr/>
          <p:nvPr/>
        </p:nvPicPr>
        <p:blipFill>
          <a:blip r:embed="rId2" cstate="print"/>
          <a:stretch>
            <a:fillRect/>
          </a:stretch>
        </p:blipFill>
        <p:spPr>
          <a:xfrm>
            <a:off x="2924175" y="52387"/>
            <a:ext cx="5313361" cy="544511"/>
          </a:xfrm>
          <a:prstGeom prst="rect">
            <a:avLst/>
          </a:prstGeom>
        </p:spPr>
      </p:pic>
      <p:sp>
        <p:nvSpPr>
          <p:cNvPr id="6" name="object 6"/>
          <p:cNvSpPr txBox="1">
            <a:spLocks noGrp="1"/>
          </p:cNvSpPr>
          <p:nvPr>
            <p:ph type="dt" sz="half" idx="6"/>
          </p:nvPr>
        </p:nvSpPr>
        <p:spPr>
          <a:prstGeom prst="rect">
            <a:avLst/>
          </a:prstGeom>
        </p:spPr>
        <p:txBody>
          <a:bodyPr vert="horz" wrap="square" lIns="0" tIns="0" rIns="0" bIns="0" rtlCol="0">
            <a:spAutoFit/>
          </a:bodyPr>
          <a:lstStyle/>
          <a:p>
            <a:pPr marL="12700">
              <a:lnSpc>
                <a:spcPts val="1240"/>
              </a:lnSpc>
            </a:pPr>
            <a:r>
              <a:rPr spc="-10" dirty="0"/>
              <a:t>CAPSTONE</a:t>
            </a:r>
            <a:r>
              <a:rPr spc="-50" dirty="0"/>
              <a:t> </a:t>
            </a:r>
            <a:r>
              <a:rPr spc="-10" dirty="0"/>
              <a:t>PROJECT</a:t>
            </a: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6</a:t>
            </a:fld>
            <a:endParaRPr spc="-25" dirty="0"/>
          </a:p>
        </p:txBody>
      </p:sp>
      <p:sp>
        <p:nvSpPr>
          <p:cNvPr id="5" name="Rectangle 1">
            <a:extLst>
              <a:ext uri="{FF2B5EF4-FFF2-40B4-BE49-F238E27FC236}">
                <a16:creationId xmlns:a16="http://schemas.microsoft.com/office/drawing/2014/main" id="{920D6745-D815-4EAD-BEBF-19921D06EAF9}"/>
              </a:ext>
            </a:extLst>
          </p:cNvPr>
          <p:cNvSpPr>
            <a:spLocks noChangeArrowheads="1"/>
          </p:cNvSpPr>
          <p:nvPr/>
        </p:nvSpPr>
        <p:spPr bwMode="auto">
          <a:xfrm>
            <a:off x="797726" y="1438220"/>
            <a:ext cx="10869265" cy="50285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Traditional surveillance systems only record video footage and depend on continuous human monitoring, making it difficult to detect intrusions in real time. </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Existing security systems cannot accurately distinguish between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authorized</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unauthorized</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individuals, leading to delayed responses and false alarms. </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Captured images and surveillance data are often stored without strong protection, making them vulnerable to unauthorized access, data theft, or modification. </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Security event logs can be tampered with, reducing the reliability of digital evidence during investigations. </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Alert notifications sent through conventional methods may not be authenticated, increasing the risk of fake or modified alerts. </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There is a need for an intelligent security system that can automatically detect intrusions, recognize faces, securely protect captured evidence, maintain tamper-proof logs, and send authenticated real-time notifications to the owner. </a:t>
            </a:r>
          </a:p>
        </p:txBody>
      </p:sp>
      <p:sp>
        <p:nvSpPr>
          <p:cNvPr id="9" name="Title 8">
            <a:extLst>
              <a:ext uri="{FF2B5EF4-FFF2-40B4-BE49-F238E27FC236}">
                <a16:creationId xmlns:a16="http://schemas.microsoft.com/office/drawing/2014/main" id="{29F1D7CF-42CA-40E5-93AC-C7FB014BAED3}"/>
              </a:ext>
            </a:extLst>
          </p:cNvPr>
          <p:cNvSpPr>
            <a:spLocks noGrp="1"/>
          </p:cNvSpPr>
          <p:nvPr>
            <p:ph type="title"/>
          </p:nvPr>
        </p:nvSpPr>
        <p:spPr>
          <a:xfrm>
            <a:off x="797727" y="838200"/>
            <a:ext cx="3621874" cy="492443"/>
          </a:xfrm>
        </p:spPr>
        <p:txBody>
          <a:bodyPr/>
          <a:lstStyle/>
          <a:p>
            <a:r>
              <a:rPr lang="en-IN" sz="3200" b="1" dirty="0"/>
              <a:t>Problem</a:t>
            </a:r>
            <a:r>
              <a:rPr lang="en-IN" sz="3200" b="1" spc="-245" dirty="0"/>
              <a:t> </a:t>
            </a:r>
            <a:r>
              <a:rPr lang="en-IN" sz="3200" b="1" spc="-70" dirty="0"/>
              <a:t>Statement</a:t>
            </a:r>
            <a:endParaRPr lang="en-IN" sz="3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object 4"/>
          <p:cNvPicPr/>
          <p:nvPr/>
        </p:nvPicPr>
        <p:blipFill>
          <a:blip r:embed="rId2" cstate="print"/>
          <a:stretch>
            <a:fillRect/>
          </a:stretch>
        </p:blipFill>
        <p:spPr>
          <a:xfrm>
            <a:off x="2924175" y="52387"/>
            <a:ext cx="5313361" cy="544511"/>
          </a:xfrm>
          <a:prstGeom prst="rect">
            <a:avLst/>
          </a:prstGeom>
        </p:spPr>
      </p:pic>
      <p:sp>
        <p:nvSpPr>
          <p:cNvPr id="6" name="object 6"/>
          <p:cNvSpPr txBox="1">
            <a:spLocks noGrp="1"/>
          </p:cNvSpPr>
          <p:nvPr>
            <p:ph type="dt" sz="half" idx="6"/>
          </p:nvPr>
        </p:nvSpPr>
        <p:spPr>
          <a:prstGeom prst="rect">
            <a:avLst/>
          </a:prstGeom>
        </p:spPr>
        <p:txBody>
          <a:bodyPr vert="horz" wrap="square" lIns="0" tIns="0" rIns="0" bIns="0" rtlCol="0">
            <a:spAutoFit/>
          </a:bodyPr>
          <a:lstStyle/>
          <a:p>
            <a:pPr marL="12700">
              <a:lnSpc>
                <a:spcPts val="1240"/>
              </a:lnSpc>
            </a:pPr>
            <a:r>
              <a:rPr spc="-10" dirty="0"/>
              <a:t>CAPSTONE</a:t>
            </a:r>
            <a:r>
              <a:rPr spc="-50" dirty="0"/>
              <a:t> </a:t>
            </a:r>
            <a:r>
              <a:rPr spc="-10" dirty="0"/>
              <a:t>PROJECT</a:t>
            </a: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7</a:t>
            </a:fld>
            <a:endParaRPr spc="-25" dirty="0"/>
          </a:p>
        </p:txBody>
      </p:sp>
      <p:sp>
        <p:nvSpPr>
          <p:cNvPr id="3" name="Rectangle 1">
            <a:extLst>
              <a:ext uri="{FF2B5EF4-FFF2-40B4-BE49-F238E27FC236}">
                <a16:creationId xmlns:a16="http://schemas.microsoft.com/office/drawing/2014/main" id="{83BDE78E-3347-4E83-81AD-5975E122C067}"/>
              </a:ext>
            </a:extLst>
          </p:cNvPr>
          <p:cNvSpPr>
            <a:spLocks noChangeArrowheads="1"/>
          </p:cNvSpPr>
          <p:nvPr/>
        </p:nvSpPr>
        <p:spPr bwMode="auto">
          <a:xfrm>
            <a:off x="713134" y="1676400"/>
            <a:ext cx="10972800" cy="3366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develop an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intelligent intrusion detection system</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that continuously monitors a protected area using a camera. </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detect motion and identify human faces in real time using computer vision techniques. </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recognize and differentiate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authorized</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unauthorized</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persons using face recognition technology. </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protect captured images and sensitive data using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AES-256 encryption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RSA</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secure key management. </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maintain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tamper-proof event logs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using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SHA-256 hashing</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ensure data integrity. </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generate authenticated alert notifications using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HMAC</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send them to the owner's WhatsApp in real time. </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provide a reliable, secure, and automated surveillance solution for homes, offices, educational institutions, and other high-security environments. </a:t>
            </a:r>
          </a:p>
        </p:txBody>
      </p:sp>
      <p:sp>
        <p:nvSpPr>
          <p:cNvPr id="9" name="Title 8">
            <a:extLst>
              <a:ext uri="{FF2B5EF4-FFF2-40B4-BE49-F238E27FC236}">
                <a16:creationId xmlns:a16="http://schemas.microsoft.com/office/drawing/2014/main" id="{3E904C79-639C-4BC8-9A19-46F20C4042E1}"/>
              </a:ext>
            </a:extLst>
          </p:cNvPr>
          <p:cNvSpPr>
            <a:spLocks noGrp="1"/>
          </p:cNvSpPr>
          <p:nvPr>
            <p:ph type="title"/>
          </p:nvPr>
        </p:nvSpPr>
        <p:spPr>
          <a:xfrm>
            <a:off x="760780" y="1062583"/>
            <a:ext cx="10374945" cy="492443"/>
          </a:xfrm>
        </p:spPr>
        <p:txBody>
          <a:bodyPr/>
          <a:lstStyle/>
          <a:p>
            <a:r>
              <a:rPr lang="en-US" sz="3200" b="1" dirty="0"/>
              <a:t>Objectives</a:t>
            </a:r>
            <a:endParaRPr lang="en-IN" sz="3200" b="1"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630221" y="762000"/>
            <a:ext cx="5459066" cy="546303"/>
          </a:xfrm>
          <a:prstGeom prst="rect">
            <a:avLst/>
          </a:prstGeom>
        </p:spPr>
        <p:txBody>
          <a:bodyPr vert="horz" wrap="square" lIns="0" tIns="74295" rIns="0" bIns="0" rtlCol="0">
            <a:spAutoFit/>
          </a:bodyPr>
          <a:lstStyle/>
          <a:p>
            <a:pPr marL="3870960" marR="5080" indent="-3858895">
              <a:lnSpc>
                <a:spcPts val="3890"/>
              </a:lnSpc>
              <a:spcBef>
                <a:spcPts val="585"/>
              </a:spcBef>
            </a:pPr>
            <a:r>
              <a:rPr lang="en-US" sz="3200" b="1" spc="-10" dirty="0"/>
              <a:t>System Architecture</a:t>
            </a:r>
            <a:endParaRPr lang="en-US" sz="3200" b="1" dirty="0"/>
          </a:p>
        </p:txBody>
      </p:sp>
      <p:pic>
        <p:nvPicPr>
          <p:cNvPr id="3" name="object 3"/>
          <p:cNvPicPr/>
          <p:nvPr/>
        </p:nvPicPr>
        <p:blipFill>
          <a:blip r:embed="rId2" cstate="print"/>
          <a:stretch>
            <a:fillRect/>
          </a:stretch>
        </p:blipFill>
        <p:spPr>
          <a:xfrm>
            <a:off x="2924175" y="52387"/>
            <a:ext cx="5313361" cy="544511"/>
          </a:xfrm>
          <a:prstGeom prst="rect">
            <a:avLst/>
          </a:prstGeom>
        </p:spPr>
      </p:pic>
      <p:sp>
        <p:nvSpPr>
          <p:cNvPr id="5" name="object 5"/>
          <p:cNvSpPr txBox="1">
            <a:spLocks noGrp="1"/>
          </p:cNvSpPr>
          <p:nvPr>
            <p:ph type="dt" sz="half" idx="6"/>
          </p:nvPr>
        </p:nvSpPr>
        <p:spPr>
          <a:prstGeom prst="rect">
            <a:avLst/>
          </a:prstGeom>
        </p:spPr>
        <p:txBody>
          <a:bodyPr vert="horz" wrap="square" lIns="0" tIns="0" rIns="0" bIns="0" rtlCol="0">
            <a:spAutoFit/>
          </a:bodyPr>
          <a:lstStyle/>
          <a:p>
            <a:pPr marL="12700">
              <a:lnSpc>
                <a:spcPts val="1240"/>
              </a:lnSpc>
            </a:pPr>
            <a:r>
              <a:rPr spc="-10" dirty="0"/>
              <a:t>CAPSTONE</a:t>
            </a:r>
            <a:r>
              <a:rPr spc="-50" dirty="0"/>
              <a:t> </a:t>
            </a:r>
            <a:r>
              <a:rPr spc="-10" dirty="0"/>
              <a:t>PROJECT</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8</a:t>
            </a:fld>
            <a:endParaRPr spc="-25" dirty="0"/>
          </a:p>
        </p:txBody>
      </p:sp>
      <p:pic>
        <p:nvPicPr>
          <p:cNvPr id="8" name="Picture 7">
            <a:extLst>
              <a:ext uri="{FF2B5EF4-FFF2-40B4-BE49-F238E27FC236}">
                <a16:creationId xmlns:a16="http://schemas.microsoft.com/office/drawing/2014/main" id="{A8F78849-3160-4B6C-9E3F-E34BAA70253D}"/>
              </a:ext>
            </a:extLst>
          </p:cNvPr>
          <p:cNvPicPr>
            <a:picLocks noChangeAspect="1"/>
          </p:cNvPicPr>
          <p:nvPr/>
        </p:nvPicPr>
        <p:blipFill>
          <a:blip r:embed="rId3"/>
          <a:stretch>
            <a:fillRect/>
          </a:stretch>
        </p:blipFill>
        <p:spPr>
          <a:xfrm>
            <a:off x="0" y="1508238"/>
            <a:ext cx="12192000" cy="538459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50C3B3-FEA2-4D31-84BB-A5B87737576D}"/>
              </a:ext>
            </a:extLst>
          </p:cNvPr>
          <p:cNvSpPr>
            <a:spLocks noGrp="1"/>
          </p:cNvSpPr>
          <p:nvPr>
            <p:ph type="title"/>
          </p:nvPr>
        </p:nvSpPr>
        <p:spPr>
          <a:xfrm>
            <a:off x="713134" y="609269"/>
            <a:ext cx="10374945" cy="492443"/>
          </a:xfrm>
        </p:spPr>
        <p:txBody>
          <a:bodyPr/>
          <a:lstStyle/>
          <a:p>
            <a:r>
              <a:rPr lang="en-US" sz="3200" b="1" dirty="0"/>
              <a:t>MODULES</a:t>
            </a:r>
            <a:endParaRPr lang="en-IN" sz="3200" b="1" dirty="0"/>
          </a:p>
        </p:txBody>
      </p:sp>
      <p:graphicFrame>
        <p:nvGraphicFramePr>
          <p:cNvPr id="11" name="Diagram 10">
            <a:extLst>
              <a:ext uri="{FF2B5EF4-FFF2-40B4-BE49-F238E27FC236}">
                <a16:creationId xmlns:a16="http://schemas.microsoft.com/office/drawing/2014/main" id="{D427FEB7-4AAE-44F4-A6DB-803445563F6F}"/>
              </a:ext>
            </a:extLst>
          </p:cNvPr>
          <p:cNvGraphicFramePr/>
          <p:nvPr>
            <p:extLst>
              <p:ext uri="{D42A27DB-BD31-4B8C-83A1-F6EECF244321}">
                <p14:modId xmlns:p14="http://schemas.microsoft.com/office/powerpoint/2010/main" val="1030542735"/>
              </p:ext>
            </p:extLst>
          </p:nvPr>
        </p:nvGraphicFramePr>
        <p:xfrm>
          <a:off x="457200" y="1101712"/>
          <a:ext cx="11430000" cy="560388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059438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p:nvPr/>
        </p:nvSpPr>
        <p:spPr>
          <a:xfrm>
            <a:off x="661491" y="1292150"/>
            <a:ext cx="10439400" cy="5364545"/>
          </a:xfrm>
          <a:prstGeom prst="rect">
            <a:avLst/>
          </a:prstGeom>
        </p:spPr>
        <p:txBody>
          <a:bodyPr vert="horz" wrap="square" lIns="0" tIns="12700" rIns="0" bIns="0" rtlCol="0">
            <a:spAutoFit/>
          </a:bodyPr>
          <a:lstStyle/>
          <a:p>
            <a:pPr marL="342900" indent="-34290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This module continuously monitors the surveillance area using a camera and detects any movement in real time. When motion is detected, the system automatically identifies the presence of a human face and extracts facial features for further analysis. </a:t>
            </a:r>
          </a:p>
          <a:p>
            <a:pPr marL="342900" indent="-34290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detected face is compared with the database of authorized users using face recognition technology. Based on the matching result, the system classifies the person as an </a:t>
            </a:r>
            <a:r>
              <a:rPr lang="en-US" b="1" dirty="0">
                <a:latin typeface="Times New Roman" panose="02020603050405020304" pitchFamily="18" charset="0"/>
                <a:cs typeface="Times New Roman" panose="02020603050405020304" pitchFamily="18" charset="0"/>
              </a:rPr>
              <a:t>authorized user</a:t>
            </a:r>
            <a:r>
              <a:rPr lang="en-US" dirty="0">
                <a:latin typeface="Times New Roman" panose="02020603050405020304" pitchFamily="18" charset="0"/>
                <a:cs typeface="Times New Roman" panose="02020603050405020304" pitchFamily="18" charset="0"/>
              </a:rPr>
              <a:t> or an </a:t>
            </a:r>
            <a:r>
              <a:rPr lang="en-US" b="1" dirty="0">
                <a:latin typeface="Times New Roman" panose="02020603050405020304" pitchFamily="18" charset="0"/>
                <a:cs typeface="Times New Roman" panose="02020603050405020304" pitchFamily="18" charset="0"/>
              </a:rPr>
              <a:t>unknown intruder</a:t>
            </a:r>
            <a:r>
              <a:rPr lang="en-US" dirty="0">
                <a:latin typeface="Times New Roman" panose="02020603050405020304" pitchFamily="18" charset="0"/>
                <a:cs typeface="Times New Roman" panose="02020603050405020304" pitchFamily="18" charset="0"/>
              </a:rPr>
              <a:t> and captures the image for further processing if required. </a:t>
            </a:r>
          </a:p>
          <a:p>
            <a:pPr>
              <a:lnSpc>
                <a:spcPct val="150000"/>
              </a:lnSpc>
            </a:pPr>
            <a:r>
              <a:rPr lang="en-US" b="1" dirty="0">
                <a:latin typeface="Times New Roman" panose="02020603050405020304" pitchFamily="18" charset="0"/>
                <a:cs typeface="Times New Roman" panose="02020603050405020304" pitchFamily="18" charset="0"/>
              </a:rPr>
              <a:t>Key Features:</a:t>
            </a:r>
          </a:p>
          <a:p>
            <a:pPr marL="342900" indent="-34290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Continuous camera monitoring </a:t>
            </a:r>
          </a:p>
          <a:p>
            <a:pPr marL="342900" indent="-34290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Real-time motion detection </a:t>
            </a:r>
          </a:p>
          <a:p>
            <a:pPr marL="342900" indent="-34290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Face detection and recognition </a:t>
            </a:r>
          </a:p>
          <a:p>
            <a:pPr marL="342900" indent="-34290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Authorized/Unauthorized identification </a:t>
            </a:r>
          </a:p>
          <a:p>
            <a:pPr marL="342900" indent="-34290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Automatic image capture </a:t>
            </a:r>
          </a:p>
          <a:p>
            <a:pPr marL="342900" indent="-342900">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Timestamp generation</a:t>
            </a:r>
          </a:p>
        </p:txBody>
      </p:sp>
      <p:pic>
        <p:nvPicPr>
          <p:cNvPr id="4" name="object 4"/>
          <p:cNvPicPr/>
          <p:nvPr/>
        </p:nvPicPr>
        <p:blipFill>
          <a:blip r:embed="rId2" cstate="print"/>
          <a:stretch>
            <a:fillRect/>
          </a:stretch>
        </p:blipFill>
        <p:spPr>
          <a:xfrm>
            <a:off x="2924175" y="52387"/>
            <a:ext cx="5313361" cy="544511"/>
          </a:xfrm>
          <a:prstGeom prst="rect">
            <a:avLst/>
          </a:prstGeom>
        </p:spPr>
      </p:pic>
      <p:sp>
        <p:nvSpPr>
          <p:cNvPr id="6" name="object 6"/>
          <p:cNvSpPr txBox="1">
            <a:spLocks noGrp="1"/>
          </p:cNvSpPr>
          <p:nvPr>
            <p:ph type="dt" sz="half" idx="6"/>
          </p:nvPr>
        </p:nvSpPr>
        <p:spPr>
          <a:prstGeom prst="rect">
            <a:avLst/>
          </a:prstGeom>
        </p:spPr>
        <p:txBody>
          <a:bodyPr vert="horz" wrap="square" lIns="0" tIns="0" rIns="0" bIns="0" rtlCol="0">
            <a:spAutoFit/>
          </a:bodyPr>
          <a:lstStyle/>
          <a:p>
            <a:pPr marL="12700">
              <a:lnSpc>
                <a:spcPts val="1240"/>
              </a:lnSpc>
            </a:pPr>
            <a:r>
              <a:rPr spc="-10" dirty="0"/>
              <a:t>CAPSTONE</a:t>
            </a:r>
            <a:r>
              <a:rPr spc="-50" dirty="0"/>
              <a:t> </a:t>
            </a:r>
            <a:r>
              <a:rPr spc="-10" dirty="0"/>
              <a:t>PROJECT</a:t>
            </a: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10</a:t>
            </a:fld>
            <a:endParaRPr spc="-25" dirty="0"/>
          </a:p>
        </p:txBody>
      </p:sp>
      <p:sp>
        <p:nvSpPr>
          <p:cNvPr id="9" name="TextBox 8">
            <a:extLst>
              <a:ext uri="{FF2B5EF4-FFF2-40B4-BE49-F238E27FC236}">
                <a16:creationId xmlns:a16="http://schemas.microsoft.com/office/drawing/2014/main" id="{AFC52E32-6981-4F9C-B7C0-DB9F33588A68}"/>
              </a:ext>
            </a:extLst>
          </p:cNvPr>
          <p:cNvSpPr txBox="1"/>
          <p:nvPr/>
        </p:nvSpPr>
        <p:spPr>
          <a:xfrm>
            <a:off x="762000" y="682914"/>
            <a:ext cx="9753600" cy="523220"/>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Module 1: Motion Detection and Face Recognition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bject 4"/>
          <p:cNvPicPr/>
          <p:nvPr/>
        </p:nvPicPr>
        <p:blipFill>
          <a:blip r:embed="rId2" cstate="print"/>
          <a:stretch>
            <a:fillRect/>
          </a:stretch>
        </p:blipFill>
        <p:spPr>
          <a:xfrm>
            <a:off x="2924175" y="52387"/>
            <a:ext cx="5313361" cy="544511"/>
          </a:xfrm>
          <a:prstGeom prst="rect">
            <a:avLst/>
          </a:prstGeom>
        </p:spPr>
      </p:pic>
      <p:sp>
        <p:nvSpPr>
          <p:cNvPr id="6" name="object 6"/>
          <p:cNvSpPr txBox="1">
            <a:spLocks noGrp="1"/>
          </p:cNvSpPr>
          <p:nvPr>
            <p:ph type="dt" sz="half" idx="6"/>
          </p:nvPr>
        </p:nvSpPr>
        <p:spPr>
          <a:prstGeom prst="rect">
            <a:avLst/>
          </a:prstGeom>
        </p:spPr>
        <p:txBody>
          <a:bodyPr vert="horz" wrap="square" lIns="0" tIns="0" rIns="0" bIns="0" rtlCol="0">
            <a:spAutoFit/>
          </a:bodyPr>
          <a:lstStyle/>
          <a:p>
            <a:pPr marL="12700">
              <a:lnSpc>
                <a:spcPts val="1240"/>
              </a:lnSpc>
            </a:pPr>
            <a:r>
              <a:rPr spc="-10" dirty="0"/>
              <a:t>CAPSTONE</a:t>
            </a:r>
            <a:r>
              <a:rPr spc="-50" dirty="0"/>
              <a:t> </a:t>
            </a:r>
            <a:r>
              <a:rPr spc="-10" dirty="0"/>
              <a:t>PROJECT</a:t>
            </a: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11</a:t>
            </a:fld>
            <a:endParaRPr spc="-25" dirty="0"/>
          </a:p>
        </p:txBody>
      </p:sp>
      <p:sp>
        <p:nvSpPr>
          <p:cNvPr id="9" name="TextBox 8">
            <a:extLst>
              <a:ext uri="{FF2B5EF4-FFF2-40B4-BE49-F238E27FC236}">
                <a16:creationId xmlns:a16="http://schemas.microsoft.com/office/drawing/2014/main" id="{AFC52E32-6981-4F9C-B7C0-DB9F33588A68}"/>
              </a:ext>
            </a:extLst>
          </p:cNvPr>
          <p:cNvSpPr txBox="1"/>
          <p:nvPr/>
        </p:nvSpPr>
        <p:spPr>
          <a:xfrm>
            <a:off x="762000" y="682914"/>
            <a:ext cx="9753600" cy="523220"/>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Module 2: </a:t>
            </a:r>
            <a:r>
              <a:rPr lang="en-IN" sz="2800" b="1" dirty="0">
                <a:latin typeface="Times New Roman" panose="02020603050405020304" pitchFamily="18" charset="0"/>
                <a:cs typeface="Times New Roman" panose="02020603050405020304" pitchFamily="18" charset="0"/>
              </a:rPr>
              <a:t>Cryptographic Evidence Protection</a:t>
            </a:r>
            <a:endParaRPr lang="en-US" sz="2800" b="1" dirty="0">
              <a:latin typeface="Times New Roman" panose="02020603050405020304" pitchFamily="18" charset="0"/>
              <a:cs typeface="Times New Roman" panose="02020603050405020304" pitchFamily="18" charset="0"/>
            </a:endParaRPr>
          </a:p>
        </p:txBody>
      </p:sp>
      <p:sp>
        <p:nvSpPr>
          <p:cNvPr id="8" name="Rectangle 7">
            <a:extLst>
              <a:ext uri="{FF2B5EF4-FFF2-40B4-BE49-F238E27FC236}">
                <a16:creationId xmlns:a16="http://schemas.microsoft.com/office/drawing/2014/main" id="{06F4AF6A-18D3-4FFD-AFA9-BC7A2A4EBD19}"/>
              </a:ext>
            </a:extLst>
          </p:cNvPr>
          <p:cNvSpPr/>
          <p:nvPr/>
        </p:nvSpPr>
        <p:spPr>
          <a:xfrm>
            <a:off x="457200" y="1303036"/>
            <a:ext cx="11563850" cy="5444054"/>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This module protects the captured intruder images and sensitive surveillance data using advanced cryptographic algorithms. Once an unknown person is detected, the image is encrypted using </a:t>
            </a:r>
            <a:r>
              <a:rPr lang="en-US" b="1" dirty="0">
                <a:latin typeface="Times New Roman" panose="02020603050405020304" pitchFamily="18" charset="0"/>
                <a:cs typeface="Times New Roman" panose="02020603050405020304" pitchFamily="18" charset="0"/>
              </a:rPr>
              <a:t>AES-256</a:t>
            </a:r>
            <a:r>
              <a:rPr lang="en-US" dirty="0">
                <a:latin typeface="Times New Roman" panose="02020603050405020304" pitchFamily="18" charset="0"/>
                <a:cs typeface="Times New Roman" panose="02020603050405020304" pitchFamily="18" charset="0"/>
              </a:rPr>
              <a:t> to prevent unauthorized access or data leakage. </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encryption keys are securely managed using </a:t>
            </a:r>
            <a:r>
              <a:rPr lang="en-US" b="1" dirty="0">
                <a:latin typeface="Times New Roman" panose="02020603050405020304" pitchFamily="18" charset="0"/>
                <a:cs typeface="Times New Roman" panose="02020603050405020304" pitchFamily="18" charset="0"/>
              </a:rPr>
              <a:t>RSA</a:t>
            </a:r>
            <a:r>
              <a:rPr lang="en-US" dirty="0">
                <a:latin typeface="Times New Roman" panose="02020603050405020304" pitchFamily="18" charset="0"/>
                <a:cs typeface="Times New Roman" panose="02020603050405020304" pitchFamily="18" charset="0"/>
              </a:rPr>
              <a:t>, ensuring that only authenticated users can decrypt and access the stored evidence. All encrypted data is stored securely in the database for future investigation. </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By applying encryption techniques, this module ensures the confidentiality, privacy, and security of digital evidence throughout its storage and retrieval process. </a:t>
            </a:r>
          </a:p>
          <a:p>
            <a:pPr marL="285750" indent="-285750"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Key Features</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AES-256 image encryption </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RSA key management </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Secure evidence storage </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Data confidentiality </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Authorized evidence access </a:t>
            </a:r>
          </a:p>
        </p:txBody>
      </p:sp>
    </p:spTree>
    <p:extLst>
      <p:ext uri="{BB962C8B-B14F-4D97-AF65-F5344CB8AC3E}">
        <p14:creationId xmlns:p14="http://schemas.microsoft.com/office/powerpoint/2010/main" val="18558162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661491" y="1292150"/>
            <a:ext cx="10439400" cy="5780044"/>
          </a:xfrm>
          <a:prstGeom prst="rect">
            <a:avLst/>
          </a:prstGeom>
        </p:spPr>
        <p:txBody>
          <a:bodyPr vert="horz" wrap="square" lIns="0" tIns="12700" rIns="0" bIns="0" rtlCol="0">
            <a:spAutoFit/>
          </a:bodyPr>
          <a:lstStyle/>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This module maintains a secure record of every event occurring within the surveillance system, including motion detection, face recognition results, encryption activities, and alert generation. </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Each log entry is protected using </a:t>
            </a:r>
            <a:r>
              <a:rPr lang="en-US" b="1" dirty="0">
                <a:latin typeface="Times New Roman" panose="02020603050405020304" pitchFamily="18" charset="0"/>
                <a:cs typeface="Times New Roman" panose="02020603050405020304" pitchFamily="18" charset="0"/>
              </a:rPr>
              <a:t>SHA-256 hashing</a:t>
            </a:r>
            <a:r>
              <a:rPr lang="en-US" dirty="0">
                <a:latin typeface="Times New Roman" panose="02020603050405020304" pitchFamily="18" charset="0"/>
                <a:cs typeface="Times New Roman" panose="02020603050405020304" pitchFamily="18" charset="0"/>
              </a:rPr>
              <a:t>, and the logs are linked together to create a tamper-resistant event history. If any log is modified, the system immediately detects the integrity violation. </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Before sending the notification, the system generates an </a:t>
            </a:r>
            <a:r>
              <a:rPr lang="en-US" b="1" dirty="0">
                <a:latin typeface="Times New Roman" panose="02020603050405020304" pitchFamily="18" charset="0"/>
                <a:cs typeface="Times New Roman" panose="02020603050405020304" pitchFamily="18" charset="0"/>
              </a:rPr>
              <a:t>HMAC</a:t>
            </a:r>
            <a:r>
              <a:rPr lang="en-US" dirty="0">
                <a:latin typeface="Times New Roman" panose="02020603050405020304" pitchFamily="18" charset="0"/>
                <a:cs typeface="Times New Roman" panose="02020603050405020304" pitchFamily="18" charset="0"/>
              </a:rPr>
              <a:t> to verify the authenticity and integrity of the alert message. This prevents attackers from modifying or creating fake alerts during transmission. </a:t>
            </a:r>
          </a:p>
          <a:p>
            <a:pPr algn="just">
              <a:lnSpc>
                <a:spcPct val="150000"/>
              </a:lnSpc>
            </a:pPr>
            <a:r>
              <a:rPr lang="en-US" b="1" dirty="0">
                <a:latin typeface="Times New Roman" panose="02020603050405020304" pitchFamily="18" charset="0"/>
                <a:cs typeface="Times New Roman" panose="02020603050405020304" pitchFamily="18" charset="0"/>
              </a:rPr>
              <a:t>Key Features</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Automatic event logging </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SHA-256 hash generation </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Tamper-proof log chaining </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Log integrity verification </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Alert verification </a:t>
            </a:r>
          </a:p>
          <a:p>
            <a:pPr marL="285750"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Audit trail maintenance</a:t>
            </a:r>
          </a:p>
          <a:p>
            <a:pPr marL="285750" indent="-285750" algn="just">
              <a:lnSpc>
                <a:spcPct val="150000"/>
              </a:lnSpc>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pic>
        <p:nvPicPr>
          <p:cNvPr id="4" name="object 4"/>
          <p:cNvPicPr/>
          <p:nvPr/>
        </p:nvPicPr>
        <p:blipFill>
          <a:blip r:embed="rId2" cstate="print"/>
          <a:stretch>
            <a:fillRect/>
          </a:stretch>
        </p:blipFill>
        <p:spPr>
          <a:xfrm>
            <a:off x="2924175" y="52387"/>
            <a:ext cx="5313361" cy="544511"/>
          </a:xfrm>
          <a:prstGeom prst="rect">
            <a:avLst/>
          </a:prstGeom>
        </p:spPr>
      </p:pic>
      <p:sp>
        <p:nvSpPr>
          <p:cNvPr id="6" name="object 6"/>
          <p:cNvSpPr txBox="1">
            <a:spLocks noGrp="1"/>
          </p:cNvSpPr>
          <p:nvPr>
            <p:ph type="dt" sz="half" idx="6"/>
          </p:nvPr>
        </p:nvSpPr>
        <p:spPr>
          <a:prstGeom prst="rect">
            <a:avLst/>
          </a:prstGeom>
        </p:spPr>
        <p:txBody>
          <a:bodyPr vert="horz" wrap="square" lIns="0" tIns="0" rIns="0" bIns="0" rtlCol="0">
            <a:spAutoFit/>
          </a:bodyPr>
          <a:lstStyle/>
          <a:p>
            <a:pPr marL="12700">
              <a:lnSpc>
                <a:spcPts val="1240"/>
              </a:lnSpc>
            </a:pPr>
            <a:r>
              <a:rPr spc="-10" dirty="0"/>
              <a:t>CAPSTONE</a:t>
            </a:r>
            <a:r>
              <a:rPr spc="-50" dirty="0"/>
              <a:t> </a:t>
            </a:r>
            <a:r>
              <a:rPr spc="-10" dirty="0"/>
              <a:t>PROJECT</a:t>
            </a: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12</a:t>
            </a:fld>
            <a:endParaRPr spc="-25" dirty="0"/>
          </a:p>
        </p:txBody>
      </p:sp>
      <p:sp>
        <p:nvSpPr>
          <p:cNvPr id="9" name="TextBox 8">
            <a:extLst>
              <a:ext uri="{FF2B5EF4-FFF2-40B4-BE49-F238E27FC236}">
                <a16:creationId xmlns:a16="http://schemas.microsoft.com/office/drawing/2014/main" id="{AFC52E32-6981-4F9C-B7C0-DB9F33588A68}"/>
              </a:ext>
            </a:extLst>
          </p:cNvPr>
          <p:cNvSpPr txBox="1"/>
          <p:nvPr/>
        </p:nvSpPr>
        <p:spPr>
          <a:xfrm>
            <a:off x="762000" y="682914"/>
            <a:ext cx="9753600" cy="523220"/>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Module 3: </a:t>
            </a:r>
            <a:r>
              <a:rPr lang="en-IN" sz="2800" b="1" dirty="0">
                <a:latin typeface="Times New Roman" panose="02020603050405020304" pitchFamily="18" charset="0"/>
                <a:cs typeface="Times New Roman" panose="02020603050405020304" pitchFamily="18" charset="0"/>
              </a:rPr>
              <a:t>Secure Log Management and Alert Notification</a:t>
            </a:r>
            <a:endParaRPr lang="en-US"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884752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bject 4"/>
          <p:cNvPicPr/>
          <p:nvPr/>
        </p:nvPicPr>
        <p:blipFill>
          <a:blip r:embed="rId2" cstate="print"/>
          <a:stretch>
            <a:fillRect/>
          </a:stretch>
        </p:blipFill>
        <p:spPr>
          <a:xfrm>
            <a:off x="2924175" y="52387"/>
            <a:ext cx="5313361" cy="544511"/>
          </a:xfrm>
          <a:prstGeom prst="rect">
            <a:avLst/>
          </a:prstGeom>
        </p:spPr>
      </p:pic>
      <p:sp>
        <p:nvSpPr>
          <p:cNvPr id="6" name="object 6"/>
          <p:cNvSpPr txBox="1">
            <a:spLocks noGrp="1"/>
          </p:cNvSpPr>
          <p:nvPr>
            <p:ph type="dt" sz="half" idx="6"/>
          </p:nvPr>
        </p:nvSpPr>
        <p:spPr>
          <a:prstGeom prst="rect">
            <a:avLst/>
          </a:prstGeom>
        </p:spPr>
        <p:txBody>
          <a:bodyPr vert="horz" wrap="square" lIns="0" tIns="0" rIns="0" bIns="0" rtlCol="0">
            <a:spAutoFit/>
          </a:bodyPr>
          <a:lstStyle/>
          <a:p>
            <a:pPr marL="12700">
              <a:lnSpc>
                <a:spcPts val="1240"/>
              </a:lnSpc>
            </a:pPr>
            <a:r>
              <a:rPr spc="-10" dirty="0"/>
              <a:t>CAPSTONE</a:t>
            </a:r>
            <a:r>
              <a:rPr spc="-50" dirty="0"/>
              <a:t> </a:t>
            </a:r>
            <a:r>
              <a:rPr spc="-10" dirty="0"/>
              <a:t>PROJECT</a:t>
            </a: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13</a:t>
            </a:fld>
            <a:endParaRPr spc="-25" dirty="0"/>
          </a:p>
        </p:txBody>
      </p:sp>
      <p:sp>
        <p:nvSpPr>
          <p:cNvPr id="9" name="Title 8">
            <a:extLst>
              <a:ext uri="{FF2B5EF4-FFF2-40B4-BE49-F238E27FC236}">
                <a16:creationId xmlns:a16="http://schemas.microsoft.com/office/drawing/2014/main" id="{29F1D7CF-42CA-40E5-93AC-C7FB014BAED3}"/>
              </a:ext>
            </a:extLst>
          </p:cNvPr>
          <p:cNvSpPr>
            <a:spLocks noGrp="1"/>
          </p:cNvSpPr>
          <p:nvPr>
            <p:ph type="title"/>
          </p:nvPr>
        </p:nvSpPr>
        <p:spPr>
          <a:xfrm>
            <a:off x="797727" y="838200"/>
            <a:ext cx="3621874" cy="492443"/>
          </a:xfrm>
        </p:spPr>
        <p:txBody>
          <a:bodyPr/>
          <a:lstStyle/>
          <a:p>
            <a:r>
              <a:rPr lang="en-IN" sz="3200" b="1" dirty="0"/>
              <a:t>Implementation</a:t>
            </a:r>
            <a:endParaRPr lang="en-IN" sz="3200" dirty="0"/>
          </a:p>
        </p:txBody>
      </p:sp>
      <p:pic>
        <p:nvPicPr>
          <p:cNvPr id="2" name="Picture 1">
            <a:extLst>
              <a:ext uri="{FF2B5EF4-FFF2-40B4-BE49-F238E27FC236}">
                <a16:creationId xmlns:a16="http://schemas.microsoft.com/office/drawing/2014/main" id="{9038879A-6458-418D-BF28-94C31BE83D53}"/>
              </a:ext>
            </a:extLst>
          </p:cNvPr>
          <p:cNvPicPr>
            <a:picLocks noChangeAspect="1"/>
          </p:cNvPicPr>
          <p:nvPr/>
        </p:nvPicPr>
        <p:blipFill>
          <a:blip r:embed="rId3"/>
          <a:stretch>
            <a:fillRect/>
          </a:stretch>
        </p:blipFill>
        <p:spPr>
          <a:xfrm>
            <a:off x="609601" y="1571944"/>
            <a:ext cx="5313362" cy="4600255"/>
          </a:xfrm>
          <a:prstGeom prst="rect">
            <a:avLst/>
          </a:prstGeom>
        </p:spPr>
      </p:pic>
      <p:pic>
        <p:nvPicPr>
          <p:cNvPr id="8" name="Picture 7">
            <a:extLst>
              <a:ext uri="{FF2B5EF4-FFF2-40B4-BE49-F238E27FC236}">
                <a16:creationId xmlns:a16="http://schemas.microsoft.com/office/drawing/2014/main" id="{B108511D-CD02-4E14-AABD-888CA3083E7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48400" y="1078929"/>
            <a:ext cx="3276599" cy="2286000"/>
          </a:xfrm>
          <a:prstGeom prst="rect">
            <a:avLst/>
          </a:prstGeom>
        </p:spPr>
      </p:pic>
      <p:pic>
        <p:nvPicPr>
          <p:cNvPr id="11" name="Picture 10">
            <a:extLst>
              <a:ext uri="{FF2B5EF4-FFF2-40B4-BE49-F238E27FC236}">
                <a16:creationId xmlns:a16="http://schemas.microsoft.com/office/drawing/2014/main" id="{465A0C3D-5F7B-4726-8C27-8BDE9ED7D6D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630525" y="3493072"/>
            <a:ext cx="3419926" cy="2564945"/>
          </a:xfrm>
          <a:prstGeom prst="rect">
            <a:avLst/>
          </a:prstGeom>
        </p:spPr>
      </p:pic>
    </p:spTree>
    <p:extLst>
      <p:ext uri="{BB962C8B-B14F-4D97-AF65-F5344CB8AC3E}">
        <p14:creationId xmlns:p14="http://schemas.microsoft.com/office/powerpoint/2010/main" val="25114970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bject 4"/>
          <p:cNvPicPr/>
          <p:nvPr/>
        </p:nvPicPr>
        <p:blipFill>
          <a:blip r:embed="rId3" cstate="print"/>
          <a:stretch>
            <a:fillRect/>
          </a:stretch>
        </p:blipFill>
        <p:spPr>
          <a:xfrm>
            <a:off x="2924175" y="52387"/>
            <a:ext cx="5313361" cy="544511"/>
          </a:xfrm>
          <a:prstGeom prst="rect">
            <a:avLst/>
          </a:prstGeom>
        </p:spPr>
      </p:pic>
      <p:sp>
        <p:nvSpPr>
          <p:cNvPr id="6" name="object 6"/>
          <p:cNvSpPr txBox="1">
            <a:spLocks noGrp="1"/>
          </p:cNvSpPr>
          <p:nvPr>
            <p:ph type="dt" sz="half" idx="6"/>
          </p:nvPr>
        </p:nvSpPr>
        <p:spPr>
          <a:prstGeom prst="rect">
            <a:avLst/>
          </a:prstGeom>
        </p:spPr>
        <p:txBody>
          <a:bodyPr vert="horz" wrap="square" lIns="0" tIns="0" rIns="0" bIns="0" rtlCol="0">
            <a:spAutoFit/>
          </a:bodyPr>
          <a:lstStyle/>
          <a:p>
            <a:pPr marL="12700">
              <a:lnSpc>
                <a:spcPts val="1240"/>
              </a:lnSpc>
            </a:pPr>
            <a:r>
              <a:rPr spc="-10" dirty="0"/>
              <a:t>CAPSTONE</a:t>
            </a:r>
            <a:r>
              <a:rPr spc="-50" dirty="0"/>
              <a:t> </a:t>
            </a:r>
            <a:r>
              <a:rPr spc="-10" dirty="0"/>
              <a:t>PROJECT</a:t>
            </a: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14</a:t>
            </a:fld>
            <a:endParaRPr spc="-25" dirty="0"/>
          </a:p>
        </p:txBody>
      </p:sp>
      <p:sp>
        <p:nvSpPr>
          <p:cNvPr id="9" name="Title 8">
            <a:extLst>
              <a:ext uri="{FF2B5EF4-FFF2-40B4-BE49-F238E27FC236}">
                <a16:creationId xmlns:a16="http://schemas.microsoft.com/office/drawing/2014/main" id="{29F1D7CF-42CA-40E5-93AC-C7FB014BAED3}"/>
              </a:ext>
            </a:extLst>
          </p:cNvPr>
          <p:cNvSpPr>
            <a:spLocks noGrp="1"/>
          </p:cNvSpPr>
          <p:nvPr>
            <p:ph type="title"/>
          </p:nvPr>
        </p:nvSpPr>
        <p:spPr>
          <a:xfrm>
            <a:off x="797727" y="838200"/>
            <a:ext cx="3621874" cy="492443"/>
          </a:xfrm>
        </p:spPr>
        <p:txBody>
          <a:bodyPr/>
          <a:lstStyle/>
          <a:p>
            <a:r>
              <a:rPr lang="en-IN" sz="3200" b="1" dirty="0"/>
              <a:t>Result &amp; Discussion</a:t>
            </a:r>
            <a:endParaRPr lang="en-IN" sz="3200" dirty="0"/>
          </a:p>
        </p:txBody>
      </p:sp>
      <p:pic>
        <p:nvPicPr>
          <p:cNvPr id="3" name="Picture 2">
            <a:extLst>
              <a:ext uri="{FF2B5EF4-FFF2-40B4-BE49-F238E27FC236}">
                <a16:creationId xmlns:a16="http://schemas.microsoft.com/office/drawing/2014/main" id="{2534DF70-C863-4E82-A7EC-99F8713CD090}"/>
              </a:ext>
            </a:extLst>
          </p:cNvPr>
          <p:cNvPicPr>
            <a:picLocks noChangeAspect="1"/>
          </p:cNvPicPr>
          <p:nvPr/>
        </p:nvPicPr>
        <p:blipFill>
          <a:blip r:embed="rId4"/>
          <a:stretch>
            <a:fillRect/>
          </a:stretch>
        </p:blipFill>
        <p:spPr>
          <a:xfrm>
            <a:off x="6019800" y="1541465"/>
            <a:ext cx="5914978" cy="4304299"/>
          </a:xfrm>
          <a:prstGeom prst="rect">
            <a:avLst/>
          </a:prstGeom>
        </p:spPr>
      </p:pic>
      <p:pic>
        <p:nvPicPr>
          <p:cNvPr id="10" name="Picture 9">
            <a:extLst>
              <a:ext uri="{FF2B5EF4-FFF2-40B4-BE49-F238E27FC236}">
                <a16:creationId xmlns:a16="http://schemas.microsoft.com/office/drawing/2014/main" id="{DCFDE6DC-2747-4896-9604-B7754D0455F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9600" y="1676400"/>
            <a:ext cx="5255767" cy="4169364"/>
          </a:xfrm>
          <a:prstGeom prst="rect">
            <a:avLst/>
          </a:prstGeom>
        </p:spPr>
      </p:pic>
    </p:spTree>
    <p:extLst>
      <p:ext uri="{BB962C8B-B14F-4D97-AF65-F5344CB8AC3E}">
        <p14:creationId xmlns:p14="http://schemas.microsoft.com/office/powerpoint/2010/main" val="25787938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object 4"/>
          <p:cNvPicPr/>
          <p:nvPr/>
        </p:nvPicPr>
        <p:blipFill>
          <a:blip r:embed="rId2" cstate="print"/>
          <a:stretch>
            <a:fillRect/>
          </a:stretch>
        </p:blipFill>
        <p:spPr>
          <a:xfrm>
            <a:off x="2924175" y="52387"/>
            <a:ext cx="5313361" cy="544511"/>
          </a:xfrm>
          <a:prstGeom prst="rect">
            <a:avLst/>
          </a:prstGeom>
        </p:spPr>
      </p:pic>
      <p:sp>
        <p:nvSpPr>
          <p:cNvPr id="6" name="object 6"/>
          <p:cNvSpPr txBox="1">
            <a:spLocks noGrp="1"/>
          </p:cNvSpPr>
          <p:nvPr>
            <p:ph type="dt" sz="half" idx="6"/>
          </p:nvPr>
        </p:nvSpPr>
        <p:spPr>
          <a:prstGeom prst="rect">
            <a:avLst/>
          </a:prstGeom>
        </p:spPr>
        <p:txBody>
          <a:bodyPr vert="horz" wrap="square" lIns="0" tIns="0" rIns="0" bIns="0" rtlCol="0">
            <a:spAutoFit/>
          </a:bodyPr>
          <a:lstStyle/>
          <a:p>
            <a:pPr marL="12700">
              <a:lnSpc>
                <a:spcPts val="1240"/>
              </a:lnSpc>
            </a:pPr>
            <a:r>
              <a:rPr spc="-10" dirty="0"/>
              <a:t>CAPSTONE</a:t>
            </a:r>
            <a:r>
              <a:rPr spc="-50" dirty="0"/>
              <a:t> </a:t>
            </a:r>
            <a:r>
              <a:rPr spc="-10" dirty="0"/>
              <a:t>PROJECT</a:t>
            </a: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15</a:t>
            </a:fld>
            <a:endParaRPr spc="-25" dirty="0"/>
          </a:p>
        </p:txBody>
      </p:sp>
      <p:sp>
        <p:nvSpPr>
          <p:cNvPr id="5" name="Rectangle 1">
            <a:extLst>
              <a:ext uri="{FF2B5EF4-FFF2-40B4-BE49-F238E27FC236}">
                <a16:creationId xmlns:a16="http://schemas.microsoft.com/office/drawing/2014/main" id="{F005E09E-CA08-4C52-8C7B-70058D281DDD}"/>
              </a:ext>
            </a:extLst>
          </p:cNvPr>
          <p:cNvSpPr>
            <a:spLocks noChangeArrowheads="1"/>
          </p:cNvSpPr>
          <p:nvPr/>
        </p:nvSpPr>
        <p:spPr bwMode="auto">
          <a:xfrm>
            <a:off x="713134" y="2009353"/>
            <a:ext cx="10982494" cy="29510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Integrate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cloud storage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securely store encrypted surveillance data and enable remote access from anywhere. </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Develop a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mobile application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live monitoring, instant alerts, and remote management of the security system. </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Add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anti-spoofing (liveness detection)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prevent unauthorized access using photos, videos, or masks. </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Support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multiple cameras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monitoring large buildings, campuses, industries, and smart cities. </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Integrate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IoT devices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such as smart locks, alarms, and automatic lighting for enhanced security response. </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Implement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AI-based behavior analysis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detect suspicious activities before an intrusion occurs. </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lang="en-US" dirty="0"/>
              <a:t>Add </a:t>
            </a:r>
            <a:r>
              <a:rPr lang="en-US" b="1" dirty="0"/>
              <a:t>voice alerts</a:t>
            </a:r>
            <a:r>
              <a:rPr lang="en-US" dirty="0"/>
              <a:t> and emergency siren activation when an unknown intruder is detected.</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0683480D-77BD-415A-9591-BC3E2957F93F}"/>
              </a:ext>
            </a:extLst>
          </p:cNvPr>
          <p:cNvSpPr txBox="1"/>
          <p:nvPr/>
        </p:nvSpPr>
        <p:spPr>
          <a:xfrm flipH="1">
            <a:off x="819286" y="1153647"/>
            <a:ext cx="2685914" cy="584775"/>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Future</a:t>
            </a:r>
            <a:r>
              <a:rPr lang="en-IN" sz="3200" b="1" spc="-215" dirty="0">
                <a:latin typeface="Times New Roman" panose="02020603050405020304" pitchFamily="18" charset="0"/>
                <a:cs typeface="Times New Roman" panose="02020603050405020304" pitchFamily="18" charset="0"/>
              </a:rPr>
              <a:t> </a:t>
            </a:r>
            <a:r>
              <a:rPr lang="en-IN" sz="3200" b="1" spc="-10" dirty="0">
                <a:latin typeface="Times New Roman" panose="02020603050405020304" pitchFamily="18" charset="0"/>
                <a:cs typeface="Times New Roman" panose="02020603050405020304" pitchFamily="18" charset="0"/>
              </a:rPr>
              <a:t>Scope</a:t>
            </a:r>
            <a:endParaRPr lang="en-IN" sz="32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object 4"/>
          <p:cNvPicPr/>
          <p:nvPr/>
        </p:nvPicPr>
        <p:blipFill>
          <a:blip r:embed="rId2" cstate="print"/>
          <a:stretch>
            <a:fillRect/>
          </a:stretch>
        </p:blipFill>
        <p:spPr>
          <a:xfrm>
            <a:off x="2924175" y="52387"/>
            <a:ext cx="5313361" cy="544511"/>
          </a:xfrm>
          <a:prstGeom prst="rect">
            <a:avLst/>
          </a:prstGeom>
        </p:spPr>
      </p:pic>
      <p:sp>
        <p:nvSpPr>
          <p:cNvPr id="6" name="object 6"/>
          <p:cNvSpPr txBox="1">
            <a:spLocks noGrp="1"/>
          </p:cNvSpPr>
          <p:nvPr>
            <p:ph type="dt" sz="half" idx="6"/>
          </p:nvPr>
        </p:nvSpPr>
        <p:spPr>
          <a:prstGeom prst="rect">
            <a:avLst/>
          </a:prstGeom>
        </p:spPr>
        <p:txBody>
          <a:bodyPr vert="horz" wrap="square" lIns="0" tIns="0" rIns="0" bIns="0" rtlCol="0">
            <a:spAutoFit/>
          </a:bodyPr>
          <a:lstStyle/>
          <a:p>
            <a:pPr marL="12700">
              <a:lnSpc>
                <a:spcPts val="1240"/>
              </a:lnSpc>
            </a:pPr>
            <a:r>
              <a:rPr spc="-10" dirty="0"/>
              <a:t>CAPSTONE</a:t>
            </a:r>
            <a:r>
              <a:rPr spc="-50" dirty="0"/>
              <a:t> </a:t>
            </a:r>
            <a:r>
              <a:rPr spc="-10" dirty="0"/>
              <a:t>PROJECT</a:t>
            </a: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16</a:t>
            </a:fld>
            <a:endParaRPr spc="-25" dirty="0"/>
          </a:p>
        </p:txBody>
      </p:sp>
      <p:sp>
        <p:nvSpPr>
          <p:cNvPr id="5" name="Rectangle 1">
            <a:extLst>
              <a:ext uri="{FF2B5EF4-FFF2-40B4-BE49-F238E27FC236}">
                <a16:creationId xmlns:a16="http://schemas.microsoft.com/office/drawing/2014/main" id="{83D9F619-FC27-4824-AAC7-E804A4D7E279}"/>
              </a:ext>
            </a:extLst>
          </p:cNvPr>
          <p:cNvSpPr>
            <a:spLocks noChangeArrowheads="1"/>
          </p:cNvSpPr>
          <p:nvPr/>
        </p:nvSpPr>
        <p:spPr bwMode="auto">
          <a:xfrm>
            <a:off x="371043" y="1499906"/>
            <a:ext cx="11449549" cy="50285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Intelligent Intrusion Detection System Using Face Recognition and Cryptographic Security</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provides a smart and secure solution for real-time surveillance and intrusion detection. </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automatically detects motion, recognizes authorized users, and identifies unknown intruders without requiring continuous human monitoring. </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Advanced cryptographic techniques such as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AES-256</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RSA</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SHA-256</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HMAC</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ensure the confidentiality, integrity, and authenticity of captured images, event logs, and alert notifications. </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Secure evidence storage and tamper-proof logging improve the reliability of digital evidence for future investigation and security analysis. </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WhatsApp notifications enable the owner to respond quickly to potential security threats, enhancing overall safety. </a:t>
            </a:r>
          </a:p>
          <a:p>
            <a:pPr marL="285750" marR="0" lvl="0" indent="-285750" algn="just"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proposed system is suitable for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homes, offices, educational institutions, banks, industries, and other high-security environments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p:txBody>
      </p:sp>
      <p:sp>
        <p:nvSpPr>
          <p:cNvPr id="9" name="Title 8">
            <a:extLst>
              <a:ext uri="{FF2B5EF4-FFF2-40B4-BE49-F238E27FC236}">
                <a16:creationId xmlns:a16="http://schemas.microsoft.com/office/drawing/2014/main" id="{9A0538D8-0E48-40E8-9269-50E3153D6C6C}"/>
              </a:ext>
            </a:extLst>
          </p:cNvPr>
          <p:cNvSpPr>
            <a:spLocks noGrp="1"/>
          </p:cNvSpPr>
          <p:nvPr>
            <p:ph type="title"/>
          </p:nvPr>
        </p:nvSpPr>
        <p:spPr>
          <a:xfrm>
            <a:off x="609601" y="896064"/>
            <a:ext cx="2438400" cy="492443"/>
          </a:xfrm>
        </p:spPr>
        <p:txBody>
          <a:bodyPr/>
          <a:lstStyle/>
          <a:p>
            <a:r>
              <a:rPr lang="en-US" sz="3200" b="1" dirty="0"/>
              <a:t>Conclusion</a:t>
            </a:r>
            <a:endParaRPr lang="en-IN" sz="3200" b="1"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p:nvPr/>
        </p:nvSpPr>
        <p:spPr>
          <a:xfrm>
            <a:off x="687379" y="1755996"/>
            <a:ext cx="10816878" cy="4118050"/>
          </a:xfrm>
          <a:prstGeom prst="rect">
            <a:avLst/>
          </a:prstGeom>
        </p:spPr>
        <p:txBody>
          <a:bodyPr vert="horz" wrap="square" lIns="0" tIns="12700" rIns="0" bIns="0" rtlCol="0">
            <a:spAutoFit/>
          </a:bodyPr>
          <a:lstStyle/>
          <a:p>
            <a:pPr marL="457200" indent="-457200" algn="just">
              <a:lnSpc>
                <a:spcPct val="150000"/>
              </a:lnSpc>
              <a:buFont typeface="+mj-lt"/>
              <a:buAutoNum type="arabicPeriod"/>
            </a:pPr>
            <a:r>
              <a:rPr lang="en-IN" b="1" dirty="0">
                <a:latin typeface="Times New Roman" pitchFamily="18" charset="0"/>
                <a:cs typeface="Times New Roman" pitchFamily="18" charset="0"/>
              </a:rPr>
              <a:t>Viola, P. &amp; Jones, M.</a:t>
            </a:r>
            <a:r>
              <a:rPr lang="en-IN" dirty="0">
                <a:latin typeface="Times New Roman" pitchFamily="18" charset="0"/>
                <a:cs typeface="Times New Roman" pitchFamily="18" charset="0"/>
              </a:rPr>
              <a:t>, Rapid Object Detection Using a Boosted Cascade of Simple Features, CVPR, 2026.</a:t>
            </a:r>
          </a:p>
          <a:p>
            <a:pPr marL="457200" indent="-457200" algn="just">
              <a:lnSpc>
                <a:spcPct val="150000"/>
              </a:lnSpc>
              <a:buFont typeface="+mj-lt"/>
              <a:buAutoNum type="arabicPeriod"/>
            </a:pPr>
            <a:r>
              <a:rPr lang="en-IN" b="1" dirty="0">
                <a:latin typeface="Times New Roman" pitchFamily="18" charset="0"/>
                <a:cs typeface="Times New Roman" pitchFamily="18" charset="0"/>
              </a:rPr>
              <a:t>King, D. E.</a:t>
            </a:r>
            <a:r>
              <a:rPr lang="en-IN" dirty="0">
                <a:latin typeface="Times New Roman" pitchFamily="18" charset="0"/>
                <a:cs typeface="Times New Roman" pitchFamily="18" charset="0"/>
              </a:rPr>
              <a:t>, Dlib-ml: A Machine Learning Toolkit, Journal of Machine Learning Research, 2026.</a:t>
            </a:r>
          </a:p>
          <a:p>
            <a:pPr marL="457200" indent="-457200" algn="just">
              <a:lnSpc>
                <a:spcPct val="150000"/>
              </a:lnSpc>
              <a:buFont typeface="+mj-lt"/>
              <a:buAutoNum type="arabicPeriod"/>
            </a:pPr>
            <a:r>
              <a:rPr lang="en-IN" b="1" dirty="0">
                <a:latin typeface="Times New Roman" pitchFamily="18" charset="0"/>
                <a:cs typeface="Times New Roman" pitchFamily="18" charset="0"/>
              </a:rPr>
              <a:t>NIST</a:t>
            </a:r>
            <a:r>
              <a:rPr lang="en-IN" dirty="0">
                <a:latin typeface="Times New Roman" pitchFamily="18" charset="0"/>
                <a:cs typeface="Times New Roman" pitchFamily="18" charset="0"/>
              </a:rPr>
              <a:t>, Advanced Encryption Standard (AES), FIPS PUB 197.</a:t>
            </a:r>
          </a:p>
          <a:p>
            <a:pPr marL="457200" indent="-457200" algn="just">
              <a:lnSpc>
                <a:spcPct val="150000"/>
              </a:lnSpc>
              <a:buFont typeface="+mj-lt"/>
              <a:buAutoNum type="arabicPeriod"/>
            </a:pPr>
            <a:r>
              <a:rPr lang="en-IN" b="1" dirty="0">
                <a:latin typeface="Times New Roman" pitchFamily="18" charset="0"/>
                <a:cs typeface="Times New Roman" pitchFamily="18" charset="0"/>
              </a:rPr>
              <a:t>NIST</a:t>
            </a:r>
            <a:r>
              <a:rPr lang="en-IN" dirty="0">
                <a:latin typeface="Times New Roman" pitchFamily="18" charset="0"/>
                <a:cs typeface="Times New Roman" pitchFamily="18" charset="0"/>
              </a:rPr>
              <a:t>, Secure Hash Standard (SHA-256), FIPS PUB 180-4.</a:t>
            </a:r>
          </a:p>
          <a:p>
            <a:pPr marL="457200" indent="-457200" algn="just">
              <a:lnSpc>
                <a:spcPct val="150000"/>
              </a:lnSpc>
              <a:buFont typeface="+mj-lt"/>
              <a:buAutoNum type="arabicPeriod"/>
            </a:pPr>
            <a:r>
              <a:rPr lang="en-IN" b="1" dirty="0">
                <a:latin typeface="Times New Roman" pitchFamily="18" charset="0"/>
                <a:cs typeface="Times New Roman" pitchFamily="18" charset="0"/>
              </a:rPr>
              <a:t>Krawczyk, H., Bellare, M., &amp; Canetti, R.</a:t>
            </a:r>
            <a:r>
              <a:rPr lang="en-IN" dirty="0">
                <a:latin typeface="Times New Roman" pitchFamily="18" charset="0"/>
                <a:cs typeface="Times New Roman" pitchFamily="18" charset="0"/>
              </a:rPr>
              <a:t>, HMAC: Keyed-Hashing for Message Authentication, RFC 2104, 2025.</a:t>
            </a:r>
          </a:p>
          <a:p>
            <a:pPr marL="457200" indent="-457200" algn="just">
              <a:lnSpc>
                <a:spcPct val="150000"/>
              </a:lnSpc>
              <a:buFont typeface="+mj-lt"/>
              <a:buAutoNum type="arabicPeriod"/>
            </a:pPr>
            <a:r>
              <a:rPr lang="en-IN" b="1" dirty="0">
                <a:latin typeface="Times New Roman" pitchFamily="18" charset="0"/>
                <a:cs typeface="Times New Roman" pitchFamily="18" charset="0"/>
              </a:rPr>
              <a:t>Rivest, R. L., Shamir, A., &amp; Adleman, L.</a:t>
            </a:r>
            <a:r>
              <a:rPr lang="en-IN" dirty="0">
                <a:latin typeface="Times New Roman" pitchFamily="18" charset="0"/>
                <a:cs typeface="Times New Roman" pitchFamily="18" charset="0"/>
              </a:rPr>
              <a:t>, A Method for Obtaining Digital Signatures and Public-Key Cryptosystems, Communications of the ACM, 2025.</a:t>
            </a:r>
          </a:p>
          <a:p>
            <a:pPr marL="457200" indent="-457200" algn="just">
              <a:lnSpc>
                <a:spcPct val="150000"/>
              </a:lnSpc>
              <a:buFont typeface="+mj-lt"/>
              <a:buAutoNum type="arabicPeriod"/>
            </a:pPr>
            <a:r>
              <a:rPr lang="en-IN" b="1" dirty="0">
                <a:latin typeface="Times New Roman" pitchFamily="18" charset="0"/>
                <a:cs typeface="Times New Roman" pitchFamily="18" charset="0"/>
              </a:rPr>
              <a:t>William Stallings</a:t>
            </a:r>
            <a:r>
              <a:rPr lang="en-IN" dirty="0">
                <a:latin typeface="Times New Roman" pitchFamily="18" charset="0"/>
                <a:cs typeface="Times New Roman" pitchFamily="18" charset="0"/>
              </a:rPr>
              <a:t>, Cryptography and Network Security: Principles and Practice, Pearson.</a:t>
            </a:r>
          </a:p>
          <a:p>
            <a:pPr marL="457200" indent="-457200" algn="just">
              <a:lnSpc>
                <a:spcPct val="150000"/>
              </a:lnSpc>
              <a:buFont typeface="+mj-lt"/>
              <a:buAutoNum type="arabicPeriod"/>
            </a:pPr>
            <a:r>
              <a:rPr lang="en-IN" b="1" dirty="0">
                <a:latin typeface="Times New Roman" pitchFamily="18" charset="0"/>
                <a:cs typeface="Times New Roman" pitchFamily="18" charset="0"/>
              </a:rPr>
              <a:t>Twilio</a:t>
            </a:r>
            <a:r>
              <a:rPr lang="en-IN" dirty="0">
                <a:latin typeface="Times New Roman" pitchFamily="18" charset="0"/>
                <a:cs typeface="Times New Roman" pitchFamily="18" charset="0"/>
              </a:rPr>
              <a:t>, WhatsApp Business API Documentation.</a:t>
            </a:r>
          </a:p>
        </p:txBody>
      </p:sp>
      <p:pic>
        <p:nvPicPr>
          <p:cNvPr id="4" name="object 4"/>
          <p:cNvPicPr/>
          <p:nvPr/>
        </p:nvPicPr>
        <p:blipFill>
          <a:blip r:embed="rId2" cstate="print"/>
          <a:stretch>
            <a:fillRect/>
          </a:stretch>
        </p:blipFill>
        <p:spPr>
          <a:xfrm>
            <a:off x="2924175" y="52387"/>
            <a:ext cx="5313361" cy="544511"/>
          </a:xfrm>
          <a:prstGeom prst="rect">
            <a:avLst/>
          </a:prstGeom>
        </p:spPr>
      </p:pic>
      <p:sp>
        <p:nvSpPr>
          <p:cNvPr id="6" name="object 6"/>
          <p:cNvSpPr txBox="1">
            <a:spLocks noGrp="1"/>
          </p:cNvSpPr>
          <p:nvPr>
            <p:ph type="dt" sz="half" idx="6"/>
          </p:nvPr>
        </p:nvSpPr>
        <p:spPr>
          <a:prstGeom prst="rect">
            <a:avLst/>
          </a:prstGeom>
        </p:spPr>
        <p:txBody>
          <a:bodyPr vert="horz" wrap="square" lIns="0" tIns="0" rIns="0" bIns="0" rtlCol="0">
            <a:spAutoFit/>
          </a:bodyPr>
          <a:lstStyle/>
          <a:p>
            <a:pPr marL="12700">
              <a:lnSpc>
                <a:spcPts val="1240"/>
              </a:lnSpc>
            </a:pPr>
            <a:r>
              <a:rPr spc="-10" dirty="0"/>
              <a:t>CAPSTONE</a:t>
            </a:r>
            <a:r>
              <a:rPr spc="-50" dirty="0"/>
              <a:t> </a:t>
            </a:r>
            <a:r>
              <a:rPr spc="-10" dirty="0"/>
              <a:t>PROJECT</a:t>
            </a:r>
          </a:p>
        </p:txBody>
      </p:sp>
      <p:sp>
        <p:nvSpPr>
          <p:cNvPr id="7" name="object 7"/>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17</a:t>
            </a:fld>
            <a:endParaRPr spc="-25" dirty="0"/>
          </a:p>
        </p:txBody>
      </p:sp>
      <p:sp>
        <p:nvSpPr>
          <p:cNvPr id="8" name="Title 7">
            <a:extLst>
              <a:ext uri="{FF2B5EF4-FFF2-40B4-BE49-F238E27FC236}">
                <a16:creationId xmlns:a16="http://schemas.microsoft.com/office/drawing/2014/main" id="{810DA4BA-1276-4843-9117-C89F90808BB6}"/>
              </a:ext>
            </a:extLst>
          </p:cNvPr>
          <p:cNvSpPr>
            <a:spLocks noGrp="1"/>
          </p:cNvSpPr>
          <p:nvPr>
            <p:ph type="title"/>
          </p:nvPr>
        </p:nvSpPr>
        <p:spPr>
          <a:xfrm>
            <a:off x="725946" y="1008488"/>
            <a:ext cx="10374945" cy="492443"/>
          </a:xfrm>
        </p:spPr>
        <p:txBody>
          <a:bodyPr/>
          <a:lstStyle/>
          <a:p>
            <a:r>
              <a:rPr lang="en-US" sz="3200" b="1" dirty="0"/>
              <a:t>References</a:t>
            </a:r>
            <a:endParaRPr lang="en-IN" sz="3200" b="1"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a:spLocks noGrp="1"/>
          </p:cNvSpPr>
          <p:nvPr>
            <p:ph type="dt" sz="half" idx="6"/>
          </p:nvPr>
        </p:nvSpPr>
        <p:spPr>
          <a:prstGeom prst="rect">
            <a:avLst/>
          </a:prstGeom>
        </p:spPr>
        <p:txBody>
          <a:bodyPr vert="horz" wrap="square" lIns="0" tIns="0" rIns="0" bIns="0" rtlCol="0">
            <a:spAutoFit/>
          </a:bodyPr>
          <a:lstStyle/>
          <a:p>
            <a:pPr marL="12700">
              <a:lnSpc>
                <a:spcPts val="1240"/>
              </a:lnSpc>
            </a:pPr>
            <a:r>
              <a:rPr spc="-10" dirty="0"/>
              <a:t>CAPSTONE</a:t>
            </a:r>
            <a:r>
              <a:rPr spc="-50" dirty="0"/>
              <a:t> </a:t>
            </a:r>
            <a:r>
              <a:rPr spc="-10" dirty="0"/>
              <a:t>PROJECT</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12700">
              <a:lnSpc>
                <a:spcPts val="1240"/>
              </a:lnSpc>
            </a:pPr>
            <a:fld id="{81D60167-4931-47E6-BA6A-407CBD079E47}" type="slidenum">
              <a:rPr spc="-25" dirty="0"/>
              <a:t>18</a:t>
            </a:fld>
            <a:endParaRPr spc="-25" dirty="0"/>
          </a:p>
        </p:txBody>
      </p:sp>
      <p:pic>
        <p:nvPicPr>
          <p:cNvPr id="8" name="Picture 2" descr="This may contain: a paper cut out of a person holding the word thank you on a gray background">
            <a:extLst>
              <a:ext uri="{FF2B5EF4-FFF2-40B4-BE49-F238E27FC236}">
                <a16:creationId xmlns:a16="http://schemas.microsoft.com/office/drawing/2014/main" id="{EB1FAC9E-D690-4065-B8D5-BDC9C01D1C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309</TotalTime>
  <Words>1658</Words>
  <Application>Microsoft Office PowerPoint</Application>
  <PresentationFormat>Widescreen</PresentationFormat>
  <Paragraphs>180</Paragraphs>
  <Slides>18</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Arial MT</vt:lpstr>
      <vt:lpstr>Calibri</vt:lpstr>
      <vt:lpstr>Times New Roman</vt:lpstr>
      <vt:lpstr>Office Theme</vt:lpstr>
      <vt:lpstr>Intelligent Intrusion Detection System Using Face Recognition and Cryptographic Security</vt:lpstr>
      <vt:lpstr>Agenda</vt:lpstr>
      <vt:lpstr>Abstract</vt:lpstr>
      <vt:lpstr>Introduction</vt:lpstr>
      <vt:lpstr>Literature Review</vt:lpstr>
      <vt:lpstr>Problem Statement</vt:lpstr>
      <vt:lpstr>Objectives</vt:lpstr>
      <vt:lpstr>System Architecture</vt:lpstr>
      <vt:lpstr>MODULES</vt:lpstr>
      <vt:lpstr>PowerPoint Presentation</vt:lpstr>
      <vt:lpstr>PowerPoint Presentation</vt:lpstr>
      <vt:lpstr>PowerPoint Presentation</vt:lpstr>
      <vt:lpstr>Implementation</vt:lpstr>
      <vt:lpstr>Result &amp; Discussion</vt:lpstr>
      <vt:lpstr>PowerPoint Presentation</vt:lpstr>
      <vt:lpstr>Conclusion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CAPSTONE PROJECT PPT FORMAT.pptx</dc:title>
  <dc:creator>ADMIN</dc:creator>
  <cp:lastModifiedBy>Kartheeka Repalle</cp:lastModifiedBy>
  <cp:revision>27</cp:revision>
  <dcterms:created xsi:type="dcterms:W3CDTF">2026-08-04T05:24:33Z</dcterms:created>
  <dcterms:modified xsi:type="dcterms:W3CDTF">2026-09-02T16:51:41Z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v10.0.19910.1</vt:lpwstr>
  </property>
  <property fmtid="{D5CDD505-2E9C-101B-9397-08002B2CF9AE}" pid="3" name="Created">
    <vt:filetime>2026-08-04T00:00:00Z</vt:filetime>
  </property>
  <property fmtid="{D5CDD505-2E9C-101B-9397-08002B2CF9AE}" pid="4" name="Creator">
    <vt:lpwstr>Google</vt:lpwstr>
  </property>
  <property fmtid="{D5CDD505-2E9C-101B-9397-08002B2CF9AE}" pid="5" name="LastSaved">
    <vt:filetime>2026-08-04T00:00:00Z</vt:filetime>
  </property>
</Properties>
</file>